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7" r:id="rId18"/>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172A"/>
                </a:solidFill>
                <a:latin typeface="+mn-lt"/>
              </a:defRPr>
            </a:pPr>
            <a:r>
              <a:rPr sz="1100" b="0" i="0" u="none" strike="noStrike">
                <a:solidFill>
                  <a:srgbClr val="0F172A"/>
                </a:solidFill>
                <a:latin typeface="+mn-lt"/>
              </a:rPr>
              <a:t>Secondes depuis le début</a:t>
            </a:r>
          </a:p>
        </c:rich>
      </c:tx>
      <c:layout/>
      <c:overlay val="0"/>
    </c:title>
    <c:autoTitleDeleted val="0"/>
    <c:plotArea>
      <c:layout/>
      <c:barChart>
        <c:barDir val="col"/>
        <c:grouping val="stacked"/>
        <c:varyColors val="0"/>
        <c:ser>
          <c:idx val="0"/>
          <c:order val="0"/>
          <c:tx>
            <c:strRef>
              <c:f>Sheet1!$B$1</c:f>
              <c:strCache>
                <c:ptCount val="1"/>
                <c:pt idx="0">
                  <c:v>Détection</c:v>
                </c:pt>
              </c:strCache>
            </c:strRef>
          </c:tx>
          <c:spPr>
            <a:solidFill>
              <a:srgbClr val="0F172A"/>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strRef>
              <c:f>Sheet1!$A$2:$A$4</c:f>
              <c:strCache>
                <c:ptCount val="3"/>
                <c:pt idx="0">
                  <c:v>Essai 1</c:v>
                </c:pt>
                <c:pt idx="1">
                  <c:v>Essai 2</c:v>
                </c:pt>
                <c:pt idx="2">
                  <c:v>Essai 3</c:v>
                </c:pt>
              </c:strCache>
            </c:strRef>
          </c:cat>
          <c:val>
            <c:numRef>
              <c:f>Sheet1!$B$2:$B$4</c:f>
              <c:numCache>
                <c:formatCode>General</c:formatCode>
                <c:ptCount val="3"/>
                <c:pt idx="0">
                  <c:v>11.9</c:v>
                </c:pt>
                <c:pt idx="1">
                  <c:v>16.6</c:v>
                </c:pt>
                <c:pt idx="2">
                  <c:v>13.6</c:v>
                </c:pt>
              </c:numCache>
            </c:numRef>
          </c:val>
        </c:ser>
        <c:ser>
          <c:idx val="1"/>
          <c:order val="1"/>
          <c:tx>
            <c:strRef>
              <c:f>Sheet1!$C$1</c:f>
              <c:strCache>
                <c:ptCount val="1"/>
                <c:pt idx="0">
                  <c:v>Reprise</c:v>
                </c:pt>
              </c:strCache>
            </c:strRef>
          </c:tx>
          <c:spPr>
            <a:solidFill>
              <a:srgbClr val="14B8A6"/>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strRef>
              <c:f>Sheet1!$A$2:$A$4</c:f>
              <c:strCache>
                <c:ptCount val="3"/>
                <c:pt idx="0">
                  <c:v>Essai 1</c:v>
                </c:pt>
                <c:pt idx="1">
                  <c:v>Essai 2</c:v>
                </c:pt>
                <c:pt idx="2">
                  <c:v>Essai 3</c:v>
                </c:pt>
              </c:strCache>
            </c:strRef>
          </c:cat>
          <c:val>
            <c:numRef>
              <c:f>Sheet1!$C$2:$C$4</c:f>
              <c:numCache>
                <c:formatCode>General</c:formatCode>
                <c:ptCount val="3"/>
                <c:pt idx="0">
                  <c:v>9.1</c:v>
                </c:pt>
                <c:pt idx="1">
                  <c:v>11.8</c:v>
                </c:pt>
                <c:pt idx="2">
                  <c:v>11.8</c:v>
                </c:pt>
              </c:numCache>
            </c:numRef>
          </c:val>
        </c:ser>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Accroche : ce soir nous attaquons notre propre plateforme, et personne ne touchera au clavier. Annoncer d'emblée que tout ce qui est montré est fictif et que nous distinguons ce qui est prouvé de ce qui ne l'est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scénario : reproductible depuis un seul poste, symptôme mesurable (latence, erreurs, CPU), réponse en deux temps (contenir puis réparer). Insister sur le critère de succès : un conteneur qui répond ne prouve rien.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pare-feu applicatif est notre composant : trois écouteurs (public, sonde interne jamais bannie, administration). Le détecteur ne peut qu'envoyer une alerte. Le moteur est le composant le plus contraint, parce que c'est la cible la plus attractive.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Détailler la règle d'or : on touche au service en dernier recours. Contenir la source d'abord. Et on ne dit « rétabli » qu'après avoir fait une vraie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Chiffres (3 répétitions sous Docker, attaquant simulé sur la même machine) : détection 11.9 / 16.6 / 13.6 s ; reprise 21.0 / 28.5 / 25.4 s après le début de l'attaque, soit 9.1 / 11.8 / 11.8 s après la détection. L'attaque dure 120 s : elle continue plus de 90 s après la reprise, donc c'est bien la remédiation qui agit, pas la fin du script. Pendant l'incident, devis et virements échouent en 503 pour tous les clients ; ensuite 100 % des virements du client légitime réussissent. Dire clairement que l'attaquant est simulé (en-tête X-Forwarded-For) et que l'essai depuis un second PC reste à faire.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Moment d'honnêteté. Cette image vient du banc natif antérieur. Le bon comportement face à une source impossible à bannir est d'escalader. Constaté ensuite sous Docker Desktop : sur un seul poste, le WAF ne voit que la passerelle du réseau Docker pour tout le trafic de l'hôte, donc un attaquant lancé depuis le même PC est indiscernable d'un client ; en laboratoire nous simulons des identités distinctes, mais l'IP réelle d'un second PC reste à vérifier. Montrer que les essais ont servi à corriger de vrais défauts.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Découvertes avec les données réelles : les séries d'erreurs sont absentes quand il n'y a pas d'erreur (détecteur aveugle, corrigé) ; l'absence de trafic doit faire partie du normal ; une variable quasi constante (la mémoire) faussait tout le seuil et a été retirée ; un faux incident pendant la collecte a même banni notre propre générateur de trafic, d'où le filtre anti-contamination. Au repos le score reste entre 0,40 et 0,58 pour un seuil de 0,70 ; en attaque il atteint 0,77. Le RAG a été testé avec un faux modèle (10 tests) ; Ollama n'a pas été exécuté.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WAF ne bloque volontairement pas sur le débit : c'est la chaîne ML qui décide, pour ne pas bannir un client légitime. Une faille trouvée : les compteurs créés au premier événement faisaient échapper la première rafale aux alertes ; ils sont maintenant créés à zéro.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Décisions humaines laissées volontairement aux humains : notifier un incident, accepter un risque, escalader une compromission. Les écarts sont listés pour être pris en charge, pas cachés.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Poser le cadre du jury : nous préférons dire ce qui n'est pas prouvé. Prouvé depuis la dernière version : la composition Docker (16 services), le déploiement Ansible avec secrets chiffrés, Loki, le détecteur entraîné sur 132 minutes et trois répétitions réussies. Le point 2 (second PC, IP source) conditionne tout le bannissement par IP : sur un seul poste le WAF ne voit que la passerelle.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rien toucher pendant l'attaque : toute intervention fait passer l'axe d'autonomie à non démontré. Parler pendant que la chaîne tourne, sans cliquer.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Consigne additionnelle 1. Docker ne transmet pas une caméra USB à un conteneur Linux : la caméra et la reconnaissance faciale (OpenCV, YuNet + SFace) tournent donc sur le PC Hôte, et le service face-gate décide. Un mot de passe volé ne suffit pas : auth-service exige un ticket facial signé, à usage unique, que le navigateur ne voit jamais. Test de bout en bout avec les vrais délais (rouge fixe 30 s, rouge clignotant 10 s, vert fixe 30,3 s mesurés, blocage 5 min). Ces délais ont été mesurés avec une caméra simulée ; l'inscription du visage et la connexion ont ensuite été essayées avec une vraie caméra USB et fonctionnent. Dire clairement : ESP8266 jamais flashé (firmware compilé, logique testée sur PC), taux de faux rejets et faux accepts non mesurés, aucune détection de vivacité : une photo peut tromper le modèle.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72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RESILIENCE-ALPHA · plateforme et données fictives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371600"/>
            <a:ext cx="786384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RESILIENCE-ALPHA</a:t>
            </a:r>
            <a:endParaRPr lang="en-US" sz="4800" dirty="0"/>
          </a:p>
        </p:txBody>
      </p:sp>
      <p:sp>
        <p:nvSpPr>
          <p:cNvPr id="3" name="Text 1"/>
          <p:cNvSpPr txBox="1"/>
          <p:nvPr/>
        </p:nvSpPr>
        <p:spPr>
          <a:xfrm>
            <a:off x="640080" y="2286000"/>
            <a:ext cx="6949440" cy="914400"/>
          </a:xfrm>
          <a:prstGeom prst="rect">
            <a:avLst/>
          </a:prstGeom>
          <a:noFill/>
          <a:ln/>
        </p:spPr>
        <p:txBody>
          <a:bodyPr wrap="square" lIns="0" tIns="0" rIns="0" bIns="0" rtlCol="0" anchor="ctr"/>
          <a:lstStyle/>
          <a:p>
            <a:pPr indent="0" marL="0">
              <a:buNone/>
            </a:pPr>
            <a:r>
              <a:rPr lang="en-US" sz="2000" dirty="0">
                <a:solidFill>
                  <a:srgbClr val="CBD5E1"/>
                </a:solidFill>
              </a:rPr>
              <a:t>Une plateforme de paiement qui détecte l'attaque, se défend, se répare seule, puis le prouve par une vraie transaction.</a:t>
            </a:r>
            <a:endParaRPr lang="en-US" sz="2000" dirty="0"/>
          </a:p>
        </p:txBody>
      </p:sp>
      <p:sp>
        <p:nvSpPr>
          <p:cNvPr id="4" name="Text 2"/>
          <p:cNvSpPr txBox="1"/>
          <p:nvPr/>
        </p:nvSpPr>
        <p:spPr>
          <a:xfrm>
            <a:off x="640080" y="4206240"/>
            <a:ext cx="7863840" cy="365760"/>
          </a:xfrm>
          <a:prstGeom prst="rect">
            <a:avLst/>
          </a:prstGeom>
          <a:noFill/>
          <a:ln/>
        </p:spPr>
        <p:txBody>
          <a:bodyPr wrap="square" lIns="0" tIns="0" rIns="0" bIns="0" rtlCol="0" anchor="ctr"/>
          <a:lstStyle/>
          <a:p>
            <a:pPr indent="0" marL="0">
              <a:buNone/>
            </a:pPr>
            <a:r>
              <a:rPr lang="en-US" sz="1300" dirty="0">
                <a:solidFill>
                  <a:srgbClr val="94A3B8"/>
                </a:solidFill>
              </a:rPr>
              <a:t>Workshop 2026 · EPSI M2 · Équipe G? (à compléter) · plateforme et données entièrement fictives</a:t>
            </a:r>
            <a:endParaRPr lang="en-US" sz="1300" dirty="0"/>
          </a:p>
        </p:txBody>
      </p:sp>
      <p:sp>
        <p:nvSpPr>
          <p:cNvPr id="5" name="Shape 3"/>
          <p:cNvSpPr/>
          <p:nvPr/>
        </p:nvSpPr>
        <p:spPr>
          <a:xfrm>
            <a:off x="7498080" y="548640"/>
            <a:ext cx="822960" cy="822960"/>
          </a:xfrm>
          <a:prstGeom prst="ellipse">
            <a:avLst/>
          </a:prstGeom>
          <a:solidFill>
            <a:srgbClr val="14B8A6"/>
          </a:solidFill>
          <a:ln w="12700">
            <a:solidFill>
              <a:srgbClr val="14B8A6"/>
            </a:solidFill>
            <a:prstDash val="solid"/>
          </a:ln>
        </p:spPr>
      </p:sp>
      <p:pic>
        <p:nvPicPr>
          <p:cNvPr id="6" name="Image 0" descr="preencoded.png">    </p:cNvPr>
          <p:cNvPicPr>
            <a:picLocks noChangeAspect="1"/>
          </p:cNvPicPr>
          <p:nvPr/>
        </p:nvPicPr>
        <p:blipFill>
          <a:blip r:embed="rId1"/>
          <a:stretch>
            <a:fillRect/>
          </a:stretch>
        </p:blipFill>
        <p:spPr>
          <a:xfrm>
            <a:off x="7680960" y="731520"/>
            <a:ext cx="457200" cy="457200"/>
          </a:xfrm>
          <a:prstGeom prst="rect">
            <a:avLst/>
          </a:prstGeom>
        </p:spPr>
      </p:pic>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r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Le scénario</a:t>
            </a:r>
            <a:endParaRPr lang="en-US" sz="3400" dirty="0"/>
          </a:p>
        </p:txBody>
      </p:sp>
      <p:sp>
        <p:nvSpPr>
          <p:cNvPr id="3" name="Message"/>
          <p:cNvSpPr txBox="1"/>
          <p:nvPr/>
        </p:nvSpPr>
        <p:spPr>
          <a:xfrm>
            <a:off x="457200" y="896112"/>
            <a:ext cx="8229600" cy="45720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Une saturation applicative : un seul endpoint public, coûteux, inondé.</a:t>
            </a:r>
            <a:endParaRPr lang="en-US" sz="1600" dirty="0"/>
          </a:p>
        </p:txBody>
      </p:sp>
      <p:sp>
        <p:nvSpPr>
          <p:cNvPr id="4" name="Shape 2"/>
          <p:cNvSpPr/>
          <p:nvPr/>
        </p:nvSpPr>
        <p:spPr>
          <a:xfrm>
            <a:off x="457200" y="1600200"/>
            <a:ext cx="2606040" cy="2011680"/>
          </a:xfrm>
          <a:prstGeom prst="rect">
            <a:avLst/>
          </a:prstGeom>
          <a:solidFill>
            <a:schemeClr val="bg2"/>
          </a:solidFill>
          <a:ln w="12700">
            <a:solidFill>
              <a:schemeClr val="bg2"/>
            </a:solidFill>
            <a:prstDash val="solid"/>
          </a:ln>
        </p:spPr>
      </p:sp>
      <p:sp>
        <p:nvSpPr>
          <p:cNvPr id="5" name="Text 3"/>
          <p:cNvSpPr txBox="1"/>
          <p:nvPr/>
        </p:nvSpPr>
        <p:spPr>
          <a:xfrm>
            <a:off x="594360" y="1783080"/>
            <a:ext cx="23317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300</a:t>
            </a:r>
            <a:endParaRPr lang="en-US" sz="4400" dirty="0"/>
          </a:p>
        </p:txBody>
      </p:sp>
      <p:sp>
        <p:nvSpPr>
          <p:cNvPr id="6" name="Text 4"/>
          <p:cNvSpPr txBox="1"/>
          <p:nvPr/>
        </p:nvSpPr>
        <p:spPr>
          <a:xfrm>
            <a:off x="594360" y="2697480"/>
            <a:ext cx="2331720" cy="777240"/>
          </a:xfrm>
          <a:prstGeom prst="rect">
            <a:avLst/>
          </a:prstGeom>
          <a:noFill/>
          <a:ln/>
        </p:spPr>
        <p:txBody>
          <a:bodyPr wrap="square" lIns="0" tIns="0" rIns="0" bIns="0" rtlCol="0" anchor="t"/>
          <a:lstStyle/>
          <a:p>
            <a:pPr indent="0" marL="0">
              <a:buNone/>
            </a:pPr>
            <a:r>
              <a:rPr lang="en-US" sz="1400" dirty="0">
                <a:solidFill>
                  <a:schemeClr val="tx1"/>
                </a:solidFill>
              </a:rPr>
              <a:t>requêtes par seconde depuis le PC Attaquant</a:t>
            </a:r>
            <a:endParaRPr lang="en-US" sz="1400" dirty="0"/>
          </a:p>
        </p:txBody>
      </p:sp>
      <p:sp>
        <p:nvSpPr>
          <p:cNvPr id="7" name="Shape 5"/>
          <p:cNvSpPr/>
          <p:nvPr/>
        </p:nvSpPr>
        <p:spPr>
          <a:xfrm>
            <a:off x="3246120" y="1600200"/>
            <a:ext cx="2606040" cy="2011680"/>
          </a:xfrm>
          <a:prstGeom prst="rect">
            <a:avLst/>
          </a:prstGeom>
          <a:solidFill>
            <a:schemeClr val="bg2"/>
          </a:solidFill>
          <a:ln w="12700">
            <a:solidFill>
              <a:schemeClr val="bg2"/>
            </a:solidFill>
            <a:prstDash val="solid"/>
          </a:ln>
        </p:spPr>
      </p:sp>
      <p:sp>
        <p:nvSpPr>
          <p:cNvPr id="8" name="Text 6"/>
          <p:cNvSpPr txBox="1"/>
          <p:nvPr/>
        </p:nvSpPr>
        <p:spPr>
          <a:xfrm>
            <a:off x="3383280" y="1783080"/>
            <a:ext cx="2331720" cy="8229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 20 ms → 2 s</a:t>
            </a:r>
            <a:endParaRPr lang="en-US" sz="2800" dirty="0"/>
          </a:p>
        </p:txBody>
      </p:sp>
      <p:sp>
        <p:nvSpPr>
          <p:cNvPr id="9" name="Text 7"/>
          <p:cNvSpPr txBox="1"/>
          <p:nvPr/>
        </p:nvSpPr>
        <p:spPr>
          <a:xfrm>
            <a:off x="3383280" y="2697480"/>
            <a:ext cx="2331720" cy="777240"/>
          </a:xfrm>
          <a:prstGeom prst="rect">
            <a:avLst/>
          </a:prstGeom>
          <a:noFill/>
          <a:ln/>
        </p:spPr>
        <p:txBody>
          <a:bodyPr wrap="square" lIns="0" tIns="0" rIns="0" bIns="0" rtlCol="0" anchor="t"/>
          <a:lstStyle/>
          <a:p>
            <a:pPr indent="0" marL="0">
              <a:buNone/>
            </a:pPr>
            <a:r>
              <a:rPr lang="en-US" sz="1400" dirty="0">
                <a:solidFill>
                  <a:schemeClr val="tx1"/>
                </a:solidFill>
              </a:rPr>
              <a:t>latence perçue par un client, avec erreurs 503</a:t>
            </a:r>
            <a:endParaRPr lang="en-US" sz="1400" dirty="0"/>
          </a:p>
        </p:txBody>
      </p:sp>
      <p:sp>
        <p:nvSpPr>
          <p:cNvPr id="10" name="Shape 8"/>
          <p:cNvSpPr/>
          <p:nvPr/>
        </p:nvSpPr>
        <p:spPr>
          <a:xfrm>
            <a:off x="6035040" y="1600200"/>
            <a:ext cx="2606040" cy="2011680"/>
          </a:xfrm>
          <a:prstGeom prst="rect">
            <a:avLst/>
          </a:prstGeom>
          <a:solidFill>
            <a:schemeClr val="bg2"/>
          </a:solidFill>
          <a:ln w="12700">
            <a:solidFill>
              <a:schemeClr val="bg2"/>
            </a:solidFill>
            <a:prstDash val="solid"/>
          </a:ln>
        </p:spPr>
      </p:sp>
      <p:sp>
        <p:nvSpPr>
          <p:cNvPr id="11" name="Text 9"/>
          <p:cNvSpPr txBox="1"/>
          <p:nvPr/>
        </p:nvSpPr>
        <p:spPr>
          <a:xfrm>
            <a:off x="6172200" y="1783080"/>
            <a:ext cx="23317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a:t>
            </a:r>
            <a:endParaRPr lang="en-US" sz="4400" dirty="0"/>
          </a:p>
        </p:txBody>
      </p:sp>
      <p:sp>
        <p:nvSpPr>
          <p:cNvPr id="12" name="Text 10"/>
          <p:cNvSpPr txBox="1"/>
          <p:nvPr/>
        </p:nvSpPr>
        <p:spPr>
          <a:xfrm>
            <a:off x="6172200" y="2697480"/>
            <a:ext cx="2331720" cy="777240"/>
          </a:xfrm>
          <a:prstGeom prst="rect">
            <a:avLst/>
          </a:prstGeom>
          <a:noFill/>
          <a:ln/>
        </p:spPr>
        <p:txBody>
          <a:bodyPr wrap="square" lIns="0" tIns="0" rIns="0" bIns="0" rtlCol="0" anchor="t"/>
          <a:lstStyle/>
          <a:p>
            <a:pPr indent="0" marL="0">
              <a:buNone/>
            </a:pPr>
            <a:r>
              <a:rPr lang="en-US" sz="1400" dirty="0">
                <a:solidFill>
                  <a:schemeClr val="tx1"/>
                </a:solidFill>
              </a:rPr>
              <a:t>geste humain autorisé pendant la démonstration</a:t>
            </a:r>
            <a:endParaRPr lang="en-US" sz="1400" dirty="0"/>
          </a:p>
        </p:txBody>
      </p:sp>
      <p:sp>
        <p:nvSpPr>
          <p:cNvPr id="13" name="Text 11"/>
          <p:cNvSpPr txBox="1"/>
          <p:nvPr/>
        </p:nvSpPr>
        <p:spPr>
          <a:xfrm>
            <a:off x="457200" y="3840480"/>
            <a:ext cx="8229600" cy="731520"/>
          </a:xfrm>
          <a:prstGeom prst="rect">
            <a:avLst/>
          </a:prstGeom>
          <a:noFill/>
          <a:ln/>
        </p:spPr>
        <p:txBody>
          <a:bodyPr wrap="square" lIns="0" tIns="0" rIns="0" bIns="0" rtlCol="0" anchor="ctr"/>
          <a:lstStyle/>
          <a:p>
            <a:pPr indent="0" marL="0">
              <a:buNone/>
            </a:pPr>
            <a:r>
              <a:rPr lang="en-US" sz="1500" dirty="0">
                <a:solidFill>
                  <a:schemeClr val="tx1"/>
                </a:solidFill>
              </a:rPr>
              <a:t>Critère de succès strict : le service n'est « rétabli » que si une transaction réelle réussit, que la somme des soldes est inchangée et que le chemin public reste rapide 8 secondes de suite.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r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L'architecture</a:t>
            </a:r>
            <a:endParaRPr lang="en-US" sz="3400" dirty="0"/>
          </a:p>
        </p:txBody>
      </p:sp>
      <p:sp>
        <p:nvSpPr>
          <p:cNvPr id="3" name="Message"/>
          <p:cNvSpPr txBox="1"/>
          <p:nvPr/>
        </p:nvSpPr>
        <p:spPr>
          <a:xfrm>
            <a:off x="457200" y="896112"/>
            <a:ext cx="8229600" cy="45720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Un seul port exposé ; le moteur n'agit que par deux canaux contraints.</a:t>
            </a:r>
            <a:endParaRPr lang="en-US" sz="1600" dirty="0"/>
          </a:p>
        </p:txBody>
      </p:sp>
      <p:pic>
        <p:nvPicPr>
          <p:cNvPr id="4" name="Image 0" descr="/tmp/ra-doc/arch.png">    </p:cNvPr>
          <p:cNvPicPr>
            <a:picLocks noChangeAspect="1"/>
          </p:cNvPicPr>
          <p:nvPr/>
        </p:nvPicPr>
        <p:blipFill>
          <a:blip r:embed="rId1"/>
          <a:stretch>
            <a:fillRect/>
          </a:stretch>
        </p:blipFill>
        <p:spPr>
          <a:xfrm>
            <a:off x="457200" y="1371600"/>
            <a:ext cx="5760720" cy="3200400"/>
          </a:xfrm>
          <a:prstGeom prst="rect">
            <a:avLst/>
          </a:prstGeom>
        </p:spPr>
      </p:pic>
      <p:sp>
        <p:nvSpPr>
          <p:cNvPr id="5" name="Text 2"/>
          <p:cNvSpPr txBox="1"/>
          <p:nvPr/>
        </p:nvSpPr>
        <p:spPr>
          <a:xfrm>
            <a:off x="6492240" y="1417320"/>
            <a:ext cx="2194560" cy="320040"/>
          </a:xfrm>
          <a:prstGeom prst="rect">
            <a:avLst/>
          </a:prstGeom>
          <a:noFill/>
          <a:ln/>
        </p:spPr>
        <p:txBody>
          <a:bodyPr wrap="square" lIns="0" tIns="0" rIns="0" bIns="0" rtlCol="0" anchor="ctr"/>
          <a:lstStyle/>
          <a:p>
            <a:pPr indent="0" marL="0">
              <a:buNone/>
            </a:pPr>
            <a:r>
              <a:rPr lang="en-US" sz="1400" b="1" dirty="0">
                <a:solidFill>
                  <a:schemeClr val="tx1"/>
                </a:solidFill>
              </a:rPr>
              <a:t>Réseaux app et ops internes</a:t>
            </a:r>
            <a:endParaRPr lang="en-US" sz="1400" dirty="0"/>
          </a:p>
        </p:txBody>
      </p:sp>
      <p:sp>
        <p:nvSpPr>
          <p:cNvPr id="6" name="Text 3"/>
          <p:cNvSpPr txBox="1"/>
          <p:nvPr/>
        </p:nvSpPr>
        <p:spPr>
          <a:xfrm>
            <a:off x="6492240" y="1737360"/>
            <a:ext cx="2194560" cy="640080"/>
          </a:xfrm>
          <a:prstGeom prst="rect">
            <a:avLst/>
          </a:prstGeom>
          <a:noFill/>
          <a:ln/>
        </p:spPr>
        <p:txBody>
          <a:bodyPr wrap="square" lIns="0" tIns="0" rIns="0" bIns="0" rtlCol="0" anchor="t"/>
          <a:lstStyle/>
          <a:p>
            <a:pPr indent="0" marL="0">
              <a:buNone/>
            </a:pPr>
            <a:r>
              <a:rPr lang="en-US" sz="1200" dirty="0">
                <a:solidFill>
                  <a:srgbClr val="475569"/>
                </a:solidFill>
              </a:rPr>
              <a:t>ni l'API ni la base ne sont joignables de l'extérieur</a:t>
            </a:r>
            <a:endParaRPr lang="en-US" sz="1200" dirty="0"/>
          </a:p>
        </p:txBody>
      </p:sp>
      <p:sp>
        <p:nvSpPr>
          <p:cNvPr id="7" name="Text 4"/>
          <p:cNvSpPr txBox="1"/>
          <p:nvPr/>
        </p:nvSpPr>
        <p:spPr>
          <a:xfrm>
            <a:off x="6492240" y="2468880"/>
            <a:ext cx="2194560" cy="320040"/>
          </a:xfrm>
          <a:prstGeom prst="rect">
            <a:avLst/>
          </a:prstGeom>
          <a:noFill/>
          <a:ln/>
        </p:spPr>
        <p:txBody>
          <a:bodyPr wrap="square" lIns="0" tIns="0" rIns="0" bIns="0" rtlCol="0" anchor="ctr"/>
          <a:lstStyle/>
          <a:p>
            <a:pPr indent="0" marL="0">
              <a:buNone/>
            </a:pPr>
            <a:r>
              <a:rPr lang="en-US" sz="1400" b="1" dirty="0">
                <a:solidFill>
                  <a:schemeClr val="tx1"/>
                </a:solidFill>
              </a:rPr>
              <a:t>Moteur de remédiation</a:t>
            </a:r>
            <a:endParaRPr lang="en-US" sz="1400" dirty="0"/>
          </a:p>
        </p:txBody>
      </p:sp>
      <p:sp>
        <p:nvSpPr>
          <p:cNvPr id="8" name="Text 5"/>
          <p:cNvSpPr txBox="1"/>
          <p:nvPr/>
        </p:nvSpPr>
        <p:spPr>
          <a:xfrm>
            <a:off x="6492240" y="2788920"/>
            <a:ext cx="2194560" cy="640080"/>
          </a:xfrm>
          <a:prstGeom prst="rect">
            <a:avLst/>
          </a:prstGeom>
          <a:noFill/>
          <a:ln/>
        </p:spPr>
        <p:txBody>
          <a:bodyPr wrap="square" lIns="0" tIns="0" rIns="0" bIns="0" rtlCol="0" anchor="t"/>
          <a:lstStyle/>
          <a:p>
            <a:pPr indent="0" marL="0">
              <a:buNone/>
            </a:pPr>
            <a:r>
              <a:rPr lang="en-US" sz="1200" dirty="0">
                <a:solidFill>
                  <a:srgbClr val="475569"/>
                </a:solidFill>
              </a:rPr>
              <a:t>liste fermée : bannir une IP, redémarrer un service étiqueté</a:t>
            </a:r>
            <a:endParaRPr lang="en-US" sz="1200" dirty="0"/>
          </a:p>
        </p:txBody>
      </p:sp>
      <p:sp>
        <p:nvSpPr>
          <p:cNvPr id="9" name="Text 6"/>
          <p:cNvSpPr txBox="1"/>
          <p:nvPr/>
        </p:nvSpPr>
        <p:spPr>
          <a:xfrm>
            <a:off x="6492240" y="3520440"/>
            <a:ext cx="2194560" cy="320040"/>
          </a:xfrm>
          <a:prstGeom prst="rect">
            <a:avLst/>
          </a:prstGeom>
          <a:noFill/>
          <a:ln/>
        </p:spPr>
        <p:txBody>
          <a:bodyPr wrap="square" lIns="0" tIns="0" rIns="0" bIns="0" rtlCol="0" anchor="ctr"/>
          <a:lstStyle/>
          <a:p>
            <a:pPr indent="0" marL="0">
              <a:buNone/>
            </a:pPr>
            <a:r>
              <a:rPr lang="en-US" sz="1400" b="1" dirty="0">
                <a:solidFill>
                  <a:schemeClr val="tx1"/>
                </a:solidFill>
              </a:rPr>
              <a:t>Docker jamais exposé</a:t>
            </a:r>
            <a:endParaRPr lang="en-US" sz="1400" dirty="0"/>
          </a:p>
        </p:txBody>
      </p:sp>
      <p:sp>
        <p:nvSpPr>
          <p:cNvPr id="10" name="Text 7"/>
          <p:cNvSpPr txBox="1"/>
          <p:nvPr/>
        </p:nvSpPr>
        <p:spPr>
          <a:xfrm>
            <a:off x="6492240" y="3840480"/>
            <a:ext cx="2194560" cy="640080"/>
          </a:xfrm>
          <a:prstGeom prst="rect">
            <a:avLst/>
          </a:prstGeom>
          <a:noFill/>
          <a:ln/>
        </p:spPr>
        <p:txBody>
          <a:bodyPr wrap="square" lIns="0" tIns="0" rIns="0" bIns="0" rtlCol="0" anchor="t"/>
          <a:lstStyle/>
          <a:p>
            <a:pPr indent="0" marL="0">
              <a:buNone/>
            </a:pPr>
            <a:r>
              <a:rPr lang="en-US" sz="1200" dirty="0">
                <a:solidFill>
                  <a:srgbClr val="475569"/>
                </a:solidFill>
              </a:rPr>
              <a:t>proxy filtré, budget de 3 redémarrages par 5 minutes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r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La chaîne autonome</a:t>
            </a:r>
            <a:endParaRPr lang="en-US" sz="3400" dirty="0"/>
          </a:p>
        </p:txBody>
      </p:sp>
      <p:sp>
        <p:nvSpPr>
          <p:cNvPr id="3" name="Message"/>
          <p:cNvSpPr txBox="1"/>
          <p:nvPr/>
        </p:nvSpPr>
        <p:spPr>
          <a:xfrm>
            <a:off x="457200" y="896112"/>
            <a:ext cx="8229600" cy="45720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Cinq étapes, aucune intervention humaine.</a:t>
            </a:r>
            <a:endParaRPr lang="en-US" sz="1600" dirty="0"/>
          </a:p>
        </p:txBody>
      </p:sp>
      <p:sp>
        <p:nvSpPr>
          <p:cNvPr id="4" name="Shape 2"/>
          <p:cNvSpPr/>
          <p:nvPr/>
        </p:nvSpPr>
        <p:spPr>
          <a:xfrm>
            <a:off x="868680" y="1600200"/>
            <a:ext cx="731520" cy="731520"/>
          </a:xfrm>
          <a:prstGeom prst="ellipse">
            <a:avLst/>
          </a:prstGeom>
          <a:solidFill>
            <a:srgbClr val="14B8A6"/>
          </a:solidFill>
          <a:ln w="12700">
            <a:solidFill>
              <a:srgbClr val="14B8A6"/>
            </a:solidFill>
            <a:prstDash val="solid"/>
          </a:ln>
        </p:spPr>
      </p:sp>
      <p:pic>
        <p:nvPicPr>
          <p:cNvPr id="5" name="Image 0" descr="preencoded.png">    </p:cNvPr>
          <p:cNvPicPr>
            <a:picLocks noChangeAspect="1"/>
          </p:cNvPicPr>
          <p:nvPr/>
        </p:nvPicPr>
        <p:blipFill>
          <a:blip r:embed="rId1"/>
          <a:stretch>
            <a:fillRect/>
          </a:stretch>
        </p:blipFill>
        <p:spPr>
          <a:xfrm>
            <a:off x="1051560" y="1783080"/>
            <a:ext cx="365760" cy="365760"/>
          </a:xfrm>
          <a:prstGeom prst="rect">
            <a:avLst/>
          </a:prstGeom>
        </p:spPr>
      </p:pic>
      <p:sp>
        <p:nvSpPr>
          <p:cNvPr id="6" name="Text 3"/>
          <p:cNvSpPr txBox="1"/>
          <p:nvPr/>
        </p:nvSpPr>
        <p:spPr>
          <a:xfrm>
            <a:off x="457200" y="2514600"/>
            <a:ext cx="1554480" cy="365760"/>
          </a:xfrm>
          <a:prstGeom prst="rect">
            <a:avLst/>
          </a:prstGeom>
          <a:noFill/>
          <a:ln/>
        </p:spPr>
        <p:txBody>
          <a:bodyPr wrap="square" lIns="0" tIns="0" rIns="0" bIns="0" rtlCol="0" anchor="ctr"/>
          <a:lstStyle/>
          <a:p>
            <a:pPr algn="ctr" indent="0" marL="0">
              <a:buNone/>
            </a:pPr>
            <a:r>
              <a:rPr lang="en-US" sz="1800" b="1" dirty="0">
                <a:solidFill>
                  <a:schemeClr val="tx1"/>
                </a:solidFill>
              </a:rPr>
              <a:t>Détecter</a:t>
            </a:r>
            <a:endParaRPr lang="en-US" sz="1800" dirty="0"/>
          </a:p>
        </p:txBody>
      </p:sp>
      <p:sp>
        <p:nvSpPr>
          <p:cNvPr id="7" name="Text 4"/>
          <p:cNvSpPr txBox="1"/>
          <p:nvPr/>
        </p:nvSpPr>
        <p:spPr>
          <a:xfrm>
            <a:off x="457200" y="2926080"/>
            <a:ext cx="1554480" cy="1005840"/>
          </a:xfrm>
          <a:prstGeom prst="rect">
            <a:avLst/>
          </a:prstGeom>
          <a:noFill/>
          <a:ln/>
        </p:spPr>
        <p:txBody>
          <a:bodyPr wrap="square" lIns="0" tIns="0" rIns="0" bIns="0" rtlCol="0" anchor="t"/>
          <a:lstStyle/>
          <a:p>
            <a:pPr algn="ctr" indent="0" marL="0">
              <a:buNone/>
            </a:pPr>
            <a:r>
              <a:rPr lang="en-US" sz="1300" dirty="0">
                <a:solidFill>
                  <a:srgbClr val="475569"/>
                </a:solidFill>
              </a:rPr>
              <a:t>Isolation Forest sur 7 mesures ; 3 échantillons sur 4</a:t>
            </a:r>
            <a:endParaRPr lang="en-US" sz="1300" dirty="0"/>
          </a:p>
        </p:txBody>
      </p:sp>
      <p:sp>
        <p:nvSpPr>
          <p:cNvPr id="8" name="Text 5"/>
          <p:cNvSpPr txBox="1"/>
          <p:nvPr/>
        </p:nvSpPr>
        <p:spPr>
          <a:xfrm>
            <a:off x="1828800" y="1645920"/>
            <a:ext cx="274320" cy="548640"/>
          </a:xfrm>
          <a:prstGeom prst="rect">
            <a:avLst/>
          </a:prstGeom>
          <a:noFill/>
          <a:ln/>
        </p:spPr>
        <p:txBody>
          <a:bodyPr wrap="square" lIns="0" tIns="0" rIns="0" bIns="0" rtlCol="0" anchor="ctr"/>
          <a:lstStyle/>
          <a:p>
            <a:pPr algn="ctr" indent="0" marL="0">
              <a:buNone/>
            </a:pPr>
            <a:r>
              <a:rPr lang="en-US" sz="2800" dirty="0">
                <a:solidFill>
                  <a:srgbClr val="94A3B8"/>
                </a:solidFill>
              </a:rPr>
              <a:t>›</a:t>
            </a:r>
            <a:endParaRPr lang="en-US" sz="2800" dirty="0"/>
          </a:p>
        </p:txBody>
      </p:sp>
      <p:sp>
        <p:nvSpPr>
          <p:cNvPr id="9" name="Shape 6"/>
          <p:cNvSpPr/>
          <p:nvPr/>
        </p:nvSpPr>
        <p:spPr>
          <a:xfrm>
            <a:off x="2532888" y="1600200"/>
            <a:ext cx="731520" cy="731520"/>
          </a:xfrm>
          <a:prstGeom prst="ellipse">
            <a:avLst/>
          </a:prstGeom>
          <a:solidFill>
            <a:srgbClr val="14B8A6"/>
          </a:solidFill>
          <a:ln w="12700">
            <a:solidFill>
              <a:srgbClr val="14B8A6"/>
            </a:solidFill>
            <a:prstDash val="solid"/>
          </a:ln>
        </p:spPr>
      </p:sp>
      <p:pic>
        <p:nvPicPr>
          <p:cNvPr id="10" name="Image 1" descr="preencoded.png">    </p:cNvPr>
          <p:cNvPicPr>
            <a:picLocks noChangeAspect="1"/>
          </p:cNvPicPr>
          <p:nvPr/>
        </p:nvPicPr>
        <p:blipFill>
          <a:blip r:embed="rId2"/>
          <a:stretch>
            <a:fillRect/>
          </a:stretch>
        </p:blipFill>
        <p:spPr>
          <a:xfrm>
            <a:off x="2715768" y="1783080"/>
            <a:ext cx="365760" cy="365760"/>
          </a:xfrm>
          <a:prstGeom prst="rect">
            <a:avLst/>
          </a:prstGeom>
        </p:spPr>
      </p:pic>
      <p:sp>
        <p:nvSpPr>
          <p:cNvPr id="11" name="Text 7"/>
          <p:cNvSpPr txBox="1"/>
          <p:nvPr/>
        </p:nvSpPr>
        <p:spPr>
          <a:xfrm>
            <a:off x="2121408" y="2514600"/>
            <a:ext cx="1554480" cy="365760"/>
          </a:xfrm>
          <a:prstGeom prst="rect">
            <a:avLst/>
          </a:prstGeom>
          <a:noFill/>
          <a:ln/>
        </p:spPr>
        <p:txBody>
          <a:bodyPr wrap="square" lIns="0" tIns="0" rIns="0" bIns="0" rtlCol="0" anchor="ctr"/>
          <a:lstStyle/>
          <a:p>
            <a:pPr algn="ctr" indent="0" marL="0">
              <a:buNone/>
            </a:pPr>
            <a:r>
              <a:rPr lang="en-US" sz="1800" b="1" dirty="0">
                <a:solidFill>
                  <a:schemeClr val="tx1"/>
                </a:solidFill>
              </a:rPr>
              <a:t>Contenir</a:t>
            </a:r>
            <a:endParaRPr lang="en-US" sz="1800" dirty="0"/>
          </a:p>
        </p:txBody>
      </p:sp>
      <p:sp>
        <p:nvSpPr>
          <p:cNvPr id="12" name="Text 8"/>
          <p:cNvSpPr txBox="1"/>
          <p:nvPr/>
        </p:nvSpPr>
        <p:spPr>
          <a:xfrm>
            <a:off x="2121408" y="2926080"/>
            <a:ext cx="1554480" cy="1005840"/>
          </a:xfrm>
          <a:prstGeom prst="rect">
            <a:avLst/>
          </a:prstGeom>
          <a:noFill/>
          <a:ln/>
        </p:spPr>
        <p:txBody>
          <a:bodyPr wrap="square" lIns="0" tIns="0" rIns="0" bIns="0" rtlCol="0" anchor="t"/>
          <a:lstStyle/>
          <a:p>
            <a:pPr algn="ctr" indent="0" marL="0">
              <a:buNone/>
            </a:pPr>
            <a:r>
              <a:rPr lang="en-US" sz="1300" dirty="0">
                <a:solidFill>
                  <a:srgbClr val="475569"/>
                </a:solidFill>
              </a:rPr>
              <a:t>Bannir la source à 30 req/s ou plus</a:t>
            </a:r>
            <a:endParaRPr lang="en-US" sz="1300" dirty="0"/>
          </a:p>
        </p:txBody>
      </p:sp>
      <p:sp>
        <p:nvSpPr>
          <p:cNvPr id="13" name="Text 9"/>
          <p:cNvSpPr txBox="1"/>
          <p:nvPr/>
        </p:nvSpPr>
        <p:spPr>
          <a:xfrm>
            <a:off x="3493008" y="1645920"/>
            <a:ext cx="274320" cy="548640"/>
          </a:xfrm>
          <a:prstGeom prst="rect">
            <a:avLst/>
          </a:prstGeom>
          <a:noFill/>
          <a:ln/>
        </p:spPr>
        <p:txBody>
          <a:bodyPr wrap="square" lIns="0" tIns="0" rIns="0" bIns="0" rtlCol="0" anchor="ctr"/>
          <a:lstStyle/>
          <a:p>
            <a:pPr algn="ctr" indent="0" marL="0">
              <a:buNone/>
            </a:pPr>
            <a:r>
              <a:rPr lang="en-US" sz="2800" dirty="0">
                <a:solidFill>
                  <a:srgbClr val="94A3B8"/>
                </a:solidFill>
              </a:rPr>
              <a:t>›</a:t>
            </a:r>
            <a:endParaRPr lang="en-US" sz="2800" dirty="0"/>
          </a:p>
        </p:txBody>
      </p:sp>
      <p:sp>
        <p:nvSpPr>
          <p:cNvPr id="14" name="Shape 10"/>
          <p:cNvSpPr/>
          <p:nvPr/>
        </p:nvSpPr>
        <p:spPr>
          <a:xfrm>
            <a:off x="4197096" y="1600200"/>
            <a:ext cx="731520" cy="731520"/>
          </a:xfrm>
          <a:prstGeom prst="ellipse">
            <a:avLst/>
          </a:prstGeom>
          <a:solidFill>
            <a:srgbClr val="14B8A6"/>
          </a:solidFill>
          <a:ln w="12700">
            <a:solidFill>
              <a:srgbClr val="14B8A6"/>
            </a:solidFill>
            <a:prstDash val="solid"/>
          </a:ln>
        </p:spPr>
      </p:sp>
      <p:pic>
        <p:nvPicPr>
          <p:cNvPr id="15" name="Image 2" descr="preencoded.png">    </p:cNvPr>
          <p:cNvPicPr>
            <a:picLocks noChangeAspect="1"/>
          </p:cNvPicPr>
          <p:nvPr/>
        </p:nvPicPr>
        <p:blipFill>
          <a:blip r:embed="rId3"/>
          <a:stretch>
            <a:fillRect/>
          </a:stretch>
        </p:blipFill>
        <p:spPr>
          <a:xfrm>
            <a:off x="4379976" y="1783080"/>
            <a:ext cx="365760" cy="365760"/>
          </a:xfrm>
          <a:prstGeom prst="rect">
            <a:avLst/>
          </a:prstGeom>
        </p:spPr>
      </p:pic>
      <p:sp>
        <p:nvSpPr>
          <p:cNvPr id="16" name="Text 11"/>
          <p:cNvSpPr txBox="1"/>
          <p:nvPr/>
        </p:nvSpPr>
        <p:spPr>
          <a:xfrm>
            <a:off x="3785616" y="2514600"/>
            <a:ext cx="1554480" cy="365760"/>
          </a:xfrm>
          <a:prstGeom prst="rect">
            <a:avLst/>
          </a:prstGeom>
          <a:noFill/>
          <a:ln/>
        </p:spPr>
        <p:txBody>
          <a:bodyPr wrap="square" lIns="0" tIns="0" rIns="0" bIns="0" rtlCol="0" anchor="ctr"/>
          <a:lstStyle/>
          <a:p>
            <a:pPr algn="ctr" indent="0" marL="0">
              <a:buNone/>
            </a:pPr>
            <a:r>
              <a:rPr lang="en-US" sz="1800" b="1" dirty="0">
                <a:solidFill>
                  <a:schemeClr val="tx1"/>
                </a:solidFill>
              </a:rPr>
              <a:t>Réparer</a:t>
            </a:r>
            <a:endParaRPr lang="en-US" sz="1800" dirty="0"/>
          </a:p>
        </p:txBody>
      </p:sp>
      <p:sp>
        <p:nvSpPr>
          <p:cNvPr id="17" name="Text 12"/>
          <p:cNvSpPr txBox="1"/>
          <p:nvPr/>
        </p:nvSpPr>
        <p:spPr>
          <a:xfrm>
            <a:off x="3785616" y="2926080"/>
            <a:ext cx="1554480" cy="1005840"/>
          </a:xfrm>
          <a:prstGeom prst="rect">
            <a:avLst/>
          </a:prstGeom>
          <a:noFill/>
          <a:ln/>
        </p:spPr>
        <p:txBody>
          <a:bodyPr wrap="square" lIns="0" tIns="0" rIns="0" bIns="0" rtlCol="0" anchor="t"/>
          <a:lstStyle/>
          <a:p>
            <a:pPr algn="ctr" indent="0" marL="0">
              <a:buNone/>
            </a:pPr>
            <a:r>
              <a:rPr lang="en-US" sz="1300" dirty="0">
                <a:solidFill>
                  <a:srgbClr val="475569"/>
                </a:solidFill>
              </a:rPr>
              <a:t>Redémarrer seulement si le service reste dégradé</a:t>
            </a:r>
            <a:endParaRPr lang="en-US" sz="1300" dirty="0"/>
          </a:p>
        </p:txBody>
      </p:sp>
      <p:sp>
        <p:nvSpPr>
          <p:cNvPr id="18" name="Text 13"/>
          <p:cNvSpPr txBox="1"/>
          <p:nvPr/>
        </p:nvSpPr>
        <p:spPr>
          <a:xfrm>
            <a:off x="5157216" y="1645920"/>
            <a:ext cx="274320" cy="548640"/>
          </a:xfrm>
          <a:prstGeom prst="rect">
            <a:avLst/>
          </a:prstGeom>
          <a:noFill/>
          <a:ln/>
        </p:spPr>
        <p:txBody>
          <a:bodyPr wrap="square" lIns="0" tIns="0" rIns="0" bIns="0" rtlCol="0" anchor="ctr"/>
          <a:lstStyle/>
          <a:p>
            <a:pPr algn="ctr" indent="0" marL="0">
              <a:buNone/>
            </a:pPr>
            <a:r>
              <a:rPr lang="en-US" sz="2800" dirty="0">
                <a:solidFill>
                  <a:srgbClr val="94A3B8"/>
                </a:solidFill>
              </a:rPr>
              <a:t>›</a:t>
            </a:r>
            <a:endParaRPr lang="en-US" sz="2800" dirty="0"/>
          </a:p>
        </p:txBody>
      </p:sp>
      <p:sp>
        <p:nvSpPr>
          <p:cNvPr id="19" name="Shape 14"/>
          <p:cNvSpPr/>
          <p:nvPr/>
        </p:nvSpPr>
        <p:spPr>
          <a:xfrm>
            <a:off x="5861304" y="1600200"/>
            <a:ext cx="731520" cy="731520"/>
          </a:xfrm>
          <a:prstGeom prst="ellipse">
            <a:avLst/>
          </a:prstGeom>
          <a:solidFill>
            <a:srgbClr val="22C55E"/>
          </a:solidFill>
          <a:ln w="12700">
            <a:solidFill>
              <a:srgbClr val="22C55E"/>
            </a:solidFill>
            <a:prstDash val="solid"/>
          </a:ln>
        </p:spPr>
      </p:sp>
      <p:pic>
        <p:nvPicPr>
          <p:cNvPr id="20" name="Image 3" descr="preencoded.png">    </p:cNvPr>
          <p:cNvPicPr>
            <a:picLocks noChangeAspect="1"/>
          </p:cNvPicPr>
          <p:nvPr/>
        </p:nvPicPr>
        <p:blipFill>
          <a:blip r:embed="rId4"/>
          <a:stretch>
            <a:fillRect/>
          </a:stretch>
        </p:blipFill>
        <p:spPr>
          <a:xfrm>
            <a:off x="6044184" y="1783080"/>
            <a:ext cx="365760" cy="365760"/>
          </a:xfrm>
          <a:prstGeom prst="rect">
            <a:avLst/>
          </a:prstGeom>
        </p:spPr>
      </p:pic>
      <p:sp>
        <p:nvSpPr>
          <p:cNvPr id="21" name="Text 15"/>
          <p:cNvSpPr txBox="1"/>
          <p:nvPr/>
        </p:nvSpPr>
        <p:spPr>
          <a:xfrm>
            <a:off x="5449824" y="2514600"/>
            <a:ext cx="1554480" cy="365760"/>
          </a:xfrm>
          <a:prstGeom prst="rect">
            <a:avLst/>
          </a:prstGeom>
          <a:noFill/>
          <a:ln/>
        </p:spPr>
        <p:txBody>
          <a:bodyPr wrap="square" lIns="0" tIns="0" rIns="0" bIns="0" rtlCol="0" anchor="ctr"/>
          <a:lstStyle/>
          <a:p>
            <a:pPr algn="ctr" indent="0" marL="0">
              <a:buNone/>
            </a:pPr>
            <a:r>
              <a:rPr lang="en-US" sz="1800" b="1" dirty="0">
                <a:solidFill>
                  <a:schemeClr val="tx1"/>
                </a:solidFill>
              </a:rPr>
              <a:t>Prouver</a:t>
            </a:r>
            <a:endParaRPr lang="en-US" sz="1800" dirty="0"/>
          </a:p>
        </p:txBody>
      </p:sp>
      <p:sp>
        <p:nvSpPr>
          <p:cNvPr id="22" name="Text 16"/>
          <p:cNvSpPr txBox="1"/>
          <p:nvPr/>
        </p:nvSpPr>
        <p:spPr>
          <a:xfrm>
            <a:off x="5449824" y="2926080"/>
            <a:ext cx="1554480" cy="1005840"/>
          </a:xfrm>
          <a:prstGeom prst="rect">
            <a:avLst/>
          </a:prstGeom>
          <a:noFill/>
          <a:ln/>
        </p:spPr>
        <p:txBody>
          <a:bodyPr wrap="square" lIns="0" tIns="0" rIns="0" bIns="0" rtlCol="0" anchor="t"/>
          <a:lstStyle/>
          <a:p>
            <a:pPr algn="ctr" indent="0" marL="0">
              <a:buNone/>
            </a:pPr>
            <a:r>
              <a:rPr lang="en-US" sz="1300" dirty="0">
                <a:solidFill>
                  <a:srgbClr val="475569"/>
                </a:solidFill>
              </a:rPr>
              <a:t>Transaction réelle, aucun argent perdu, 8 s de stabilité</a:t>
            </a:r>
            <a:endParaRPr lang="en-US" sz="1300" dirty="0"/>
          </a:p>
        </p:txBody>
      </p:sp>
      <p:sp>
        <p:nvSpPr>
          <p:cNvPr id="23" name="Text 17"/>
          <p:cNvSpPr txBox="1"/>
          <p:nvPr/>
        </p:nvSpPr>
        <p:spPr>
          <a:xfrm>
            <a:off x="6821424" y="1645920"/>
            <a:ext cx="274320" cy="548640"/>
          </a:xfrm>
          <a:prstGeom prst="rect">
            <a:avLst/>
          </a:prstGeom>
          <a:noFill/>
          <a:ln/>
        </p:spPr>
        <p:txBody>
          <a:bodyPr wrap="square" lIns="0" tIns="0" rIns="0" bIns="0" rtlCol="0" anchor="ctr"/>
          <a:lstStyle/>
          <a:p>
            <a:pPr algn="ctr" indent="0" marL="0">
              <a:buNone/>
            </a:pPr>
            <a:r>
              <a:rPr lang="en-US" sz="2800" dirty="0">
                <a:solidFill>
                  <a:srgbClr val="94A3B8"/>
                </a:solidFill>
              </a:rPr>
              <a:t>›</a:t>
            </a:r>
            <a:endParaRPr lang="en-US" sz="2800" dirty="0"/>
          </a:p>
        </p:txBody>
      </p:sp>
      <p:sp>
        <p:nvSpPr>
          <p:cNvPr id="24" name="Shape 18"/>
          <p:cNvSpPr/>
          <p:nvPr/>
        </p:nvSpPr>
        <p:spPr>
          <a:xfrm>
            <a:off x="7525512" y="1600200"/>
            <a:ext cx="731520" cy="731520"/>
          </a:xfrm>
          <a:prstGeom prst="ellipse">
            <a:avLst/>
          </a:prstGeom>
          <a:solidFill>
            <a:srgbClr val="14B8A6"/>
          </a:solidFill>
          <a:ln w="12700">
            <a:solidFill>
              <a:srgbClr val="14B8A6"/>
            </a:solidFill>
            <a:prstDash val="solid"/>
          </a:ln>
        </p:spPr>
      </p:sp>
      <p:pic>
        <p:nvPicPr>
          <p:cNvPr id="25" name="Image 4" descr="preencoded.png">    </p:cNvPr>
          <p:cNvPicPr>
            <a:picLocks noChangeAspect="1"/>
          </p:cNvPicPr>
          <p:nvPr/>
        </p:nvPicPr>
        <p:blipFill>
          <a:blip r:embed="rId5"/>
          <a:stretch>
            <a:fillRect/>
          </a:stretch>
        </p:blipFill>
        <p:spPr>
          <a:xfrm>
            <a:off x="7708392" y="1783080"/>
            <a:ext cx="365760" cy="365760"/>
          </a:xfrm>
          <a:prstGeom prst="rect">
            <a:avLst/>
          </a:prstGeom>
        </p:spPr>
      </p:pic>
      <p:sp>
        <p:nvSpPr>
          <p:cNvPr id="26" name="Text 19"/>
          <p:cNvSpPr txBox="1"/>
          <p:nvPr/>
        </p:nvSpPr>
        <p:spPr>
          <a:xfrm>
            <a:off x="7114032" y="2514600"/>
            <a:ext cx="1554480" cy="365760"/>
          </a:xfrm>
          <a:prstGeom prst="rect">
            <a:avLst/>
          </a:prstGeom>
          <a:noFill/>
          <a:ln/>
        </p:spPr>
        <p:txBody>
          <a:bodyPr wrap="square" lIns="0" tIns="0" rIns="0" bIns="0" rtlCol="0" anchor="ctr"/>
          <a:lstStyle/>
          <a:p>
            <a:pPr algn="ctr" indent="0" marL="0">
              <a:buNone/>
            </a:pPr>
            <a:r>
              <a:rPr lang="en-US" sz="1800" b="1" dirty="0">
                <a:solidFill>
                  <a:schemeClr val="tx1"/>
                </a:solidFill>
              </a:rPr>
              <a:t>Tracer</a:t>
            </a:r>
            <a:endParaRPr lang="en-US" sz="1800" dirty="0"/>
          </a:p>
        </p:txBody>
      </p:sp>
      <p:sp>
        <p:nvSpPr>
          <p:cNvPr id="27" name="Text 20"/>
          <p:cNvSpPr txBox="1"/>
          <p:nvPr/>
        </p:nvSpPr>
        <p:spPr>
          <a:xfrm>
            <a:off x="7114032" y="2926080"/>
            <a:ext cx="1554480" cy="1005840"/>
          </a:xfrm>
          <a:prstGeom prst="rect">
            <a:avLst/>
          </a:prstGeom>
          <a:noFill/>
          <a:ln/>
        </p:spPr>
        <p:txBody>
          <a:bodyPr wrap="square" lIns="0" tIns="0" rIns="0" bIns="0" rtlCol="0" anchor="t"/>
          <a:lstStyle/>
          <a:p>
            <a:pPr algn="ctr" indent="0" marL="0">
              <a:buNone/>
            </a:pPr>
            <a:r>
              <a:rPr lang="en-US" sz="1300" dirty="0">
                <a:solidFill>
                  <a:srgbClr val="475569"/>
                </a:solidFill>
              </a:rPr>
              <a:t>Audit de chaque décision, alertes SIEM</a:t>
            </a:r>
            <a:endParaRPr lang="en-US" sz="1300" dirty="0"/>
          </a:p>
        </p:txBody>
      </p:sp>
      <p:sp>
        <p:nvSpPr>
          <p:cNvPr id="28" name="Shape 21"/>
          <p:cNvSpPr/>
          <p:nvPr/>
        </p:nvSpPr>
        <p:spPr>
          <a:xfrm>
            <a:off x="457200" y="4023360"/>
            <a:ext cx="8229600" cy="594360"/>
          </a:xfrm>
          <a:prstGeom prst="rect">
            <a:avLst/>
          </a:prstGeom>
          <a:solidFill>
            <a:srgbClr val="F1F5F9"/>
          </a:solidFill>
          <a:ln w="12700">
            <a:solidFill>
              <a:srgbClr val="F1F5F9"/>
            </a:solidFill>
            <a:prstDash val="solid"/>
          </a:ln>
        </p:spPr>
      </p:sp>
      <p:sp>
        <p:nvSpPr>
          <p:cNvPr id="29" name="Text 22"/>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400" i="1" dirty="0">
                <a:solidFill>
                  <a:schemeClr val="tx1"/>
                </a:solidFill>
              </a:rPr>
              <a:t>Une compromission suspectée est contenue, jamais redémarrée : un redémarrage détruirait les preuves.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r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Les résultats mesurés</a:t>
            </a:r>
            <a:endParaRPr lang="en-US" sz="3400" dirty="0"/>
          </a:p>
        </p:txBody>
      </p:sp>
      <p:sp>
        <p:nvSpPr>
          <p:cNvPr id="3" name="Message"/>
          <p:cNvSpPr txBox="1"/>
          <p:nvPr/>
        </p:nvSpPr>
        <p:spPr>
          <a:xfrm>
            <a:off x="457200" y="896112"/>
            <a:ext cx="8229600" cy="45720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Trois répétitions sous Docker, sans intervention : l'attaque continue après la reprise.</a:t>
            </a:r>
            <a:endParaRPr lang="en-US" sz="1600" dirty="0"/>
          </a:p>
        </p:txBody>
      </p:sp>
      <p:sp>
        <p:nvSpPr>
          <p:cNvPr id="4" name="Text 2"/>
          <p:cNvSpPr txBox="1"/>
          <p:nvPr/>
        </p:nvSpPr>
        <p:spPr>
          <a:xfrm>
            <a:off x="457200" y="1417320"/>
            <a:ext cx="137160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 14 s</a:t>
            </a:r>
            <a:endParaRPr lang="en-US" sz="3200" dirty="0"/>
          </a:p>
        </p:txBody>
      </p:sp>
      <p:sp>
        <p:nvSpPr>
          <p:cNvPr id="5" name="Text 3"/>
          <p:cNvSpPr txBox="1"/>
          <p:nvPr/>
        </p:nvSpPr>
        <p:spPr>
          <a:xfrm>
            <a:off x="1828800" y="1417320"/>
            <a:ext cx="1325880" cy="548640"/>
          </a:xfrm>
          <a:prstGeom prst="rect">
            <a:avLst/>
          </a:prstGeom>
          <a:noFill/>
          <a:ln/>
        </p:spPr>
        <p:txBody>
          <a:bodyPr wrap="square" lIns="0" tIns="0" rIns="0" bIns="0" rtlCol="0" anchor="ctr"/>
          <a:lstStyle/>
          <a:p>
            <a:pPr indent="0" marL="0">
              <a:buNone/>
            </a:pPr>
            <a:r>
              <a:rPr lang="en-US" sz="1200" dirty="0">
                <a:solidFill>
                  <a:srgbClr val="475569"/>
                </a:solidFill>
              </a:rPr>
              <a:t>détection après le début</a:t>
            </a:r>
            <a:endParaRPr lang="en-US" sz="1200" dirty="0"/>
          </a:p>
        </p:txBody>
      </p:sp>
      <p:sp>
        <p:nvSpPr>
          <p:cNvPr id="6" name="Text 4"/>
          <p:cNvSpPr txBox="1"/>
          <p:nvPr/>
        </p:nvSpPr>
        <p:spPr>
          <a:xfrm>
            <a:off x="3246120" y="1417320"/>
            <a:ext cx="137160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 11 s</a:t>
            </a:r>
            <a:endParaRPr lang="en-US" sz="3200" dirty="0"/>
          </a:p>
        </p:txBody>
      </p:sp>
      <p:sp>
        <p:nvSpPr>
          <p:cNvPr id="7" name="Text 5"/>
          <p:cNvSpPr txBox="1"/>
          <p:nvPr/>
        </p:nvSpPr>
        <p:spPr>
          <a:xfrm>
            <a:off x="4617720" y="1417320"/>
            <a:ext cx="1325880" cy="548640"/>
          </a:xfrm>
          <a:prstGeom prst="rect">
            <a:avLst/>
          </a:prstGeom>
          <a:noFill/>
          <a:ln/>
        </p:spPr>
        <p:txBody>
          <a:bodyPr wrap="square" lIns="0" tIns="0" rIns="0" bIns="0" rtlCol="0" anchor="ctr"/>
          <a:lstStyle/>
          <a:p>
            <a:pPr indent="0" marL="0">
              <a:buNone/>
            </a:pPr>
            <a:r>
              <a:rPr lang="en-US" sz="1200" dirty="0">
                <a:solidFill>
                  <a:srgbClr val="475569"/>
                </a:solidFill>
              </a:rPr>
              <a:t>détection → rétabli et prouvé</a:t>
            </a:r>
            <a:endParaRPr lang="en-US" sz="1200" dirty="0"/>
          </a:p>
        </p:txBody>
      </p:sp>
      <p:sp>
        <p:nvSpPr>
          <p:cNvPr id="8" name="Text 6"/>
          <p:cNvSpPr txBox="1"/>
          <p:nvPr/>
        </p:nvSpPr>
        <p:spPr>
          <a:xfrm>
            <a:off x="6035040" y="1417320"/>
            <a:ext cx="137160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 / 3</a:t>
            </a:r>
            <a:endParaRPr lang="en-US" sz="3200" dirty="0"/>
          </a:p>
        </p:txBody>
      </p:sp>
      <p:sp>
        <p:nvSpPr>
          <p:cNvPr id="9" name="Text 7"/>
          <p:cNvSpPr txBox="1"/>
          <p:nvPr/>
        </p:nvSpPr>
        <p:spPr>
          <a:xfrm>
            <a:off x="7406640" y="1417320"/>
            <a:ext cx="1325880" cy="548640"/>
          </a:xfrm>
          <a:prstGeom prst="rect">
            <a:avLst/>
          </a:prstGeom>
          <a:noFill/>
          <a:ln/>
        </p:spPr>
        <p:txBody>
          <a:bodyPr wrap="square" lIns="0" tIns="0" rIns="0" bIns="0" rtlCol="0" anchor="ctr"/>
          <a:lstStyle/>
          <a:p>
            <a:pPr indent="0" marL="0">
              <a:buNone/>
            </a:pPr>
            <a:r>
              <a:rPr lang="en-US" sz="1200" dirty="0">
                <a:solidFill>
                  <a:srgbClr val="475569"/>
                </a:solidFill>
              </a:rPr>
              <a:t>exécutions réussies</a:t>
            </a:r>
            <a:endParaRPr lang="en-US" sz="1200" dirty="0"/>
          </a:p>
        </p:txBody>
      </p:sp>
      <p:graphicFrame>
        <p:nvGraphicFramePr>
          <p:cNvPr id="10" name="Chart 0" descr=""/>
          <p:cNvGraphicFramePr/>
          <p:nvPr/>
        </p:nvGraphicFramePr>
        <p:xfrm>
          <a:off x="365760" y="2103120"/>
          <a:ext cx="3566160" cy="2560320"/>
        </p:xfrm>
        <a:graphic xmlns:a="http://schemas.openxmlformats.org/drawingml/2006/main">
          <a:graphicData uri="http://schemas.openxmlformats.org/drawingml/2006/chart">
            <c:chart xmlns:c="http://schemas.openxmlformats.org/drawingml/2006/chart" r:id="rId1"/>
          </a:graphicData>
        </a:graphic>
      </p:graphicFrame>
      <p:pic>
        <p:nvPicPr>
          <p:cNvPr id="11" name="Image 0" descr="/tmp/ra-doc/lat1.png">    </p:cNvPr>
          <p:cNvPicPr>
            <a:picLocks noChangeAspect="1"/>
          </p:cNvPicPr>
          <p:nvPr/>
        </p:nvPicPr>
        <p:blipFill>
          <a:blip r:embed="rId2"/>
          <a:stretch>
            <a:fillRect/>
          </a:stretch>
        </p:blipFill>
        <p:spPr>
          <a:xfrm>
            <a:off x="4114800" y="2240280"/>
            <a:ext cx="4572000" cy="1968500"/>
          </a:xfrm>
          <a:prstGeom prst="rect">
            <a:avLst/>
          </a:prstGeom>
        </p:spPr>
      </p:pic>
      <p:sp>
        <p:nvSpPr>
          <p:cNvPr id="12" name="Text 8"/>
          <p:cNvSpPr txBox="1"/>
          <p:nvPr/>
        </p:nvSpPr>
        <p:spPr>
          <a:xfrm>
            <a:off x="4114800" y="4251960"/>
            <a:ext cx="4572000" cy="411480"/>
          </a:xfrm>
          <a:prstGeom prst="rect">
            <a:avLst/>
          </a:prstGeom>
          <a:noFill/>
          <a:ln/>
        </p:spPr>
        <p:txBody>
          <a:bodyPr wrap="square" lIns="0" tIns="0" rIns="0" bIns="0" rtlCol="0" anchor="t"/>
          <a:lstStyle/>
          <a:p>
            <a:pPr indent="0" marL="0">
              <a:buNone/>
            </a:pPr>
            <a:r>
              <a:rPr lang="en-US" sz="1100" i="1" dirty="0">
                <a:solidFill>
                  <a:srgbClr val="64748B"/>
                </a:solidFill>
              </a:rPr>
              <a:t>Docker, une seule machine, attaquant simulé : valide la chaîne, pas la capture de l'IP d'un second PC. Exemple : répétition 1 (300 req/s).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r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Quand l'attaquant est caché</a:t>
            </a:r>
            <a:endParaRPr lang="en-US" sz="3400" dirty="0"/>
          </a:p>
        </p:txBody>
      </p:sp>
      <p:sp>
        <p:nvSpPr>
          <p:cNvPr id="3" name="Message"/>
          <p:cNvSpPr txBox="1"/>
          <p:nvPr/>
        </p:nvSpPr>
        <p:spPr>
          <a:xfrm>
            <a:off x="457200" y="896112"/>
            <a:ext cx="8229600" cy="45720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Le moteur n'affirme pas un rétablissement qu'il ne peut pas prouver.</a:t>
            </a:r>
            <a:endParaRPr lang="en-US" sz="1600" dirty="0"/>
          </a:p>
        </p:txBody>
      </p:sp>
      <p:pic>
        <p:nvPicPr>
          <p:cNvPr id="4" name="Image 0" descr="/tmp/ra-doc/lat2.png">    </p:cNvPr>
          <p:cNvPicPr>
            <a:picLocks noChangeAspect="1"/>
          </p:cNvPicPr>
          <p:nvPr/>
        </p:nvPicPr>
        <p:blipFill>
          <a:blip r:embed="rId1"/>
          <a:stretch>
            <a:fillRect/>
          </a:stretch>
        </p:blipFill>
        <p:spPr>
          <a:xfrm>
            <a:off x="457200" y="1463040"/>
            <a:ext cx="5120640" cy="2212848"/>
          </a:xfrm>
          <a:prstGeom prst="rect">
            <a:avLst/>
          </a:prstGeom>
        </p:spPr>
      </p:pic>
      <p:sp>
        <p:nvSpPr>
          <p:cNvPr id="5" name="Shape 2"/>
          <p:cNvSpPr/>
          <p:nvPr/>
        </p:nvSpPr>
        <p:spPr>
          <a:xfrm>
            <a:off x="5852160" y="1463040"/>
            <a:ext cx="2834640" cy="2212848"/>
          </a:xfrm>
          <a:prstGeom prst="rect">
            <a:avLst/>
          </a:prstGeom>
          <a:solidFill>
            <a:schemeClr val="bg2"/>
          </a:solidFill>
          <a:ln w="12700">
            <a:solidFill>
              <a:schemeClr val="bg2"/>
            </a:solidFill>
            <a:prstDash val="solid"/>
          </a:ln>
        </p:spPr>
      </p:sp>
      <p:sp>
        <p:nvSpPr>
          <p:cNvPr id="6" name="Text 3"/>
          <p:cNvSpPr txBox="1"/>
          <p:nvPr/>
        </p:nvSpPr>
        <p:spPr>
          <a:xfrm>
            <a:off x="5989320" y="1554480"/>
            <a:ext cx="2560320" cy="205740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Source impossible à bannir</a:t>
            </a:r>
            <a:endParaRPr lang="en-US" sz="1400" dirty="0"/>
          </a:p>
          <a:p>
            <a:pPr indent="0" marL="0">
              <a:spcAft>
                <a:spcPts val="600"/>
              </a:spcAft>
              <a:buNone/>
            </a:pPr>
            <a:r>
              <a:rPr lang="en-US" sz="1400" dirty="0">
                <a:solidFill>
                  <a:schemeClr val="tx1"/>
                </a:solidFill>
              </a:rPr>
              <a:t>Un redémarrage donne quelques secondes de répit, puis l'attaque reprend.</a:t>
            </a:r>
            <a:endParaRPr lang="en-US" sz="1400" dirty="0"/>
          </a:p>
          <a:p>
            <a:pPr indent="0" marL="0">
              <a:spcAft>
                <a:spcPts val="600"/>
              </a:spcAft>
              <a:buNone/>
            </a:pPr>
            <a:r>
              <a:rPr lang="en-US" sz="1400" b="1" dirty="0">
                <a:solidFill>
                  <a:schemeClr val="tx1"/>
                </a:solidFill>
              </a:rPr>
              <a:t>Résultat : escalade humaine après 49 s (banc natif).</a:t>
            </a:r>
            <a:endParaRPr lang="en-US" sz="1400" dirty="0"/>
          </a:p>
        </p:txBody>
      </p:sp>
      <p:sp>
        <p:nvSpPr>
          <p:cNvPr id="7" name="Shape 4"/>
          <p:cNvSpPr/>
          <p:nvPr/>
        </p:nvSpPr>
        <p:spPr>
          <a:xfrm>
            <a:off x="457200" y="3931920"/>
            <a:ext cx="502920" cy="502920"/>
          </a:xfrm>
          <a:prstGeom prst="ellipse">
            <a:avLst/>
          </a:prstGeom>
          <a:solidFill>
            <a:srgbClr val="F59E0B"/>
          </a:solidFill>
          <a:ln w="12700">
            <a:solidFill>
              <a:srgbClr val="F59E0B"/>
            </a:solidFill>
            <a:prstDash val="solid"/>
          </a:ln>
        </p:spPr>
      </p:sp>
      <p:pic>
        <p:nvPicPr>
          <p:cNvPr id="8" name="Image 1" descr="preencoded.png">    </p:cNvPr>
          <p:cNvPicPr>
            <a:picLocks noChangeAspect="1"/>
          </p:cNvPicPr>
          <p:nvPr/>
        </p:nvPicPr>
        <p:blipFill>
          <a:blip r:embed="rId2"/>
          <a:stretch>
            <a:fillRect/>
          </a:stretch>
        </p:blipFill>
        <p:spPr>
          <a:xfrm>
            <a:off x="566928" y="4041648"/>
            <a:ext cx="283464" cy="283464"/>
          </a:xfrm>
          <a:prstGeom prst="rect">
            <a:avLst/>
          </a:prstGeom>
        </p:spPr>
      </p:pic>
      <p:sp>
        <p:nvSpPr>
          <p:cNvPr id="9" name="Text 5"/>
          <p:cNvSpPr txBox="1"/>
          <p:nvPr/>
        </p:nvSpPr>
        <p:spPr>
          <a:xfrm>
            <a:off x="1143000" y="3886200"/>
            <a:ext cx="7543800" cy="640080"/>
          </a:xfrm>
          <a:prstGeom prst="rect">
            <a:avLst/>
          </a:prstGeom>
          <a:noFill/>
          <a:ln/>
        </p:spPr>
        <p:txBody>
          <a:bodyPr wrap="square" lIns="0" tIns="0" rIns="0" bIns="0" rtlCol="0" anchor="ctr"/>
          <a:lstStyle/>
          <a:p>
            <a:pPr indent="0" marL="0">
              <a:buNone/>
            </a:pPr>
            <a:r>
              <a:rPr lang="en-US" sz="1400" dirty="0">
                <a:solidFill>
                  <a:schemeClr val="tx1"/>
                </a:solidFill>
              </a:rPr>
              <a:t>Défaut trouvé en essayant : la première version déclarait « rétabli » après ce répit. Elle exige maintenant 8 s d'observation continue du chemin public.</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r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IA et données</a:t>
            </a:r>
            <a:endParaRPr lang="en-US" sz="3400" dirty="0"/>
          </a:p>
        </p:txBody>
      </p:sp>
      <p:sp>
        <p:nvSpPr>
          <p:cNvPr id="3" name="Message"/>
          <p:cNvSpPr txBox="1"/>
          <p:nvPr/>
        </p:nvSpPr>
        <p:spPr>
          <a:xfrm>
            <a:off x="457200" y="896112"/>
            <a:ext cx="8229600" cy="45720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Un détecteur qui apprend le normal, un assistant qui ne peut rien exécuter.</a:t>
            </a:r>
            <a:endParaRPr lang="en-US" sz="1600" dirty="0"/>
          </a:p>
        </p:txBody>
      </p:sp>
      <p:sp>
        <p:nvSpPr>
          <p:cNvPr id="4" name="Shape 2"/>
          <p:cNvSpPr/>
          <p:nvPr/>
        </p:nvSpPr>
        <p:spPr>
          <a:xfrm>
            <a:off x="457200" y="1463040"/>
            <a:ext cx="3977640" cy="2331720"/>
          </a:xfrm>
          <a:prstGeom prst="rect">
            <a:avLst/>
          </a:prstGeom>
          <a:solidFill>
            <a:schemeClr val="bg2"/>
          </a:solidFill>
          <a:ln w="12700">
            <a:solidFill>
              <a:schemeClr val="bg2"/>
            </a:solidFill>
            <a:prstDash val="solid"/>
          </a:ln>
        </p:spPr>
      </p:sp>
      <p:sp>
        <p:nvSpPr>
          <p:cNvPr id="5" name="Shape 3"/>
          <p:cNvSpPr/>
          <p:nvPr/>
        </p:nvSpPr>
        <p:spPr>
          <a:xfrm>
            <a:off x="640080" y="1600200"/>
            <a:ext cx="502920" cy="502920"/>
          </a:xfrm>
          <a:prstGeom prst="ellipse">
            <a:avLst/>
          </a:prstGeom>
          <a:solidFill>
            <a:srgbClr val="6366F1"/>
          </a:solidFill>
          <a:ln w="12700">
            <a:solidFill>
              <a:srgbClr val="6366F1"/>
            </a:solidFill>
            <a:prstDash val="solid"/>
          </a:ln>
        </p:spPr>
      </p:sp>
      <p:pic>
        <p:nvPicPr>
          <p:cNvPr id="6" name="Image 0" descr="preencoded.png">    </p:cNvPr>
          <p:cNvPicPr>
            <a:picLocks noChangeAspect="1"/>
          </p:cNvPicPr>
          <p:nvPr/>
        </p:nvPicPr>
        <p:blipFill>
          <a:blip r:embed="rId1"/>
          <a:stretch>
            <a:fillRect/>
          </a:stretch>
        </p:blipFill>
        <p:spPr>
          <a:xfrm>
            <a:off x="749808" y="1709928"/>
            <a:ext cx="283464" cy="283464"/>
          </a:xfrm>
          <a:prstGeom prst="rect">
            <a:avLst/>
          </a:prstGeom>
        </p:spPr>
      </p:pic>
      <p:sp>
        <p:nvSpPr>
          <p:cNvPr id="7" name="Text 4"/>
          <p:cNvSpPr txBox="1"/>
          <p:nvPr/>
        </p:nvSpPr>
        <p:spPr>
          <a:xfrm>
            <a:off x="1280160" y="1600200"/>
            <a:ext cx="3017520" cy="502920"/>
          </a:xfrm>
          <a:prstGeom prst="rect">
            <a:avLst/>
          </a:prstGeom>
          <a:noFill/>
          <a:ln/>
        </p:spPr>
        <p:txBody>
          <a:bodyPr wrap="square" lIns="0" tIns="0" rIns="0" bIns="0" rtlCol="0" anchor="ctr"/>
          <a:lstStyle/>
          <a:p>
            <a:pPr indent="0" marL="0">
              <a:buNone/>
            </a:pPr>
            <a:r>
              <a:rPr lang="en-US" sz="1600" b="1" dirty="0">
                <a:solidFill>
                  <a:schemeClr val="tx1"/>
                </a:solidFill>
              </a:rPr>
              <a:t>Détecteur d'anomalies</a:t>
            </a:r>
            <a:endParaRPr lang="en-US" sz="1600" dirty="0"/>
          </a:p>
        </p:txBody>
      </p:sp>
      <p:sp>
        <p:nvSpPr>
          <p:cNvPr id="8" name="Text 5"/>
          <p:cNvSpPr txBox="1"/>
          <p:nvPr/>
        </p:nvSpPr>
        <p:spPr>
          <a:xfrm>
            <a:off x="640080" y="2240280"/>
            <a:ext cx="361188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Isolation Forest, 7 mesures Prometheus</a:t>
            </a:r>
            <a:endParaRPr lang="en-US" sz="1300" dirty="0"/>
          </a:p>
          <a:p>
            <a:pPr marL="342900" indent="-342900">
              <a:spcAft>
                <a:spcPts val="400"/>
              </a:spcAft>
              <a:buSzPct val="100000"/>
              <a:buChar char="•"/>
            </a:pPr>
            <a:r>
              <a:rPr lang="en-US" sz="1300" dirty="0">
                <a:solidFill>
                  <a:schemeClr val="tx1"/>
                </a:solidFill>
              </a:rPr>
              <a:t>Seuil au quantile 99,9 % de la validation</a:t>
            </a:r>
            <a:endParaRPr lang="en-US" sz="1300" dirty="0"/>
          </a:p>
          <a:p>
            <a:pPr marL="342900" indent="-342900">
              <a:spcAft>
                <a:spcPts val="400"/>
              </a:spcAft>
              <a:buSzPct val="100000"/>
              <a:buChar char="•"/>
            </a:pPr>
            <a:r>
              <a:rPr lang="en-US" sz="1300" dirty="0">
                <a:solidFill>
                  <a:schemeClr val="tx1"/>
                </a:solidFill>
              </a:rPr>
              <a:t>Alerte seulement si 3 échantillons sur 4</a:t>
            </a:r>
            <a:endParaRPr lang="en-US" sz="1300" dirty="0"/>
          </a:p>
          <a:p>
            <a:pPr marL="342900" indent="-342900">
              <a:spcAft>
                <a:spcPts val="400"/>
              </a:spcAft>
              <a:buSzPct val="100000"/>
              <a:buChar char="•"/>
            </a:pPr>
            <a:r>
              <a:rPr lang="en-US" sz="1300" dirty="0">
                <a:solidFill>
                  <a:schemeClr val="tx1"/>
                </a:solidFill>
              </a:rPr>
              <a:t>Aucune alerte si une métrique manque</a:t>
            </a:r>
            <a:endParaRPr lang="en-US" sz="1300" dirty="0"/>
          </a:p>
        </p:txBody>
      </p:sp>
      <p:sp>
        <p:nvSpPr>
          <p:cNvPr id="9" name="Shape 6"/>
          <p:cNvSpPr/>
          <p:nvPr/>
        </p:nvSpPr>
        <p:spPr>
          <a:xfrm>
            <a:off x="4709160" y="1463040"/>
            <a:ext cx="3977640" cy="2331720"/>
          </a:xfrm>
          <a:prstGeom prst="rect">
            <a:avLst/>
          </a:prstGeom>
          <a:solidFill>
            <a:schemeClr val="bg2"/>
          </a:solidFill>
          <a:ln w="12700">
            <a:solidFill>
              <a:schemeClr val="bg2"/>
            </a:solidFill>
            <a:prstDash val="solid"/>
          </a:ln>
        </p:spPr>
      </p:sp>
      <p:sp>
        <p:nvSpPr>
          <p:cNvPr id="10" name="Shape 7"/>
          <p:cNvSpPr/>
          <p:nvPr/>
        </p:nvSpPr>
        <p:spPr>
          <a:xfrm>
            <a:off x="4892040" y="1600200"/>
            <a:ext cx="502920" cy="502920"/>
          </a:xfrm>
          <a:prstGeom prst="ellipse">
            <a:avLst/>
          </a:prstGeom>
          <a:solidFill>
            <a:srgbClr val="6366F1"/>
          </a:solidFill>
          <a:ln w="12700">
            <a:solidFill>
              <a:srgbClr val="6366F1"/>
            </a:solidFill>
            <a:prstDash val="solid"/>
          </a:ln>
        </p:spPr>
      </p:sp>
      <p:pic>
        <p:nvPicPr>
          <p:cNvPr id="11" name="Image 1" descr="preencoded.png">    </p:cNvPr>
          <p:cNvPicPr>
            <a:picLocks noChangeAspect="1"/>
          </p:cNvPicPr>
          <p:nvPr/>
        </p:nvPicPr>
        <p:blipFill>
          <a:blip r:embed="rId2"/>
          <a:stretch>
            <a:fillRect/>
          </a:stretch>
        </p:blipFill>
        <p:spPr>
          <a:xfrm>
            <a:off x="5001768" y="1709928"/>
            <a:ext cx="283464" cy="283464"/>
          </a:xfrm>
          <a:prstGeom prst="rect">
            <a:avLst/>
          </a:prstGeom>
        </p:spPr>
      </p:pic>
      <p:sp>
        <p:nvSpPr>
          <p:cNvPr id="12" name="Text 8"/>
          <p:cNvSpPr txBox="1"/>
          <p:nvPr/>
        </p:nvSpPr>
        <p:spPr>
          <a:xfrm>
            <a:off x="5532120" y="1600200"/>
            <a:ext cx="3017520" cy="502920"/>
          </a:xfrm>
          <a:prstGeom prst="rect">
            <a:avLst/>
          </a:prstGeom>
          <a:noFill/>
          <a:ln/>
        </p:spPr>
        <p:txBody>
          <a:bodyPr wrap="square" lIns="0" tIns="0" rIns="0" bIns="0" rtlCol="0" anchor="ctr"/>
          <a:lstStyle/>
          <a:p>
            <a:pPr indent="0" marL="0">
              <a:buNone/>
            </a:pPr>
            <a:r>
              <a:rPr lang="en-US" sz="1600" b="1" dirty="0">
                <a:solidFill>
                  <a:schemeClr val="tx1"/>
                </a:solidFill>
              </a:rPr>
              <a:t>Assistant opérateur (RAG local)</a:t>
            </a:r>
            <a:endParaRPr lang="en-US" sz="1600" dirty="0"/>
          </a:p>
        </p:txBody>
      </p:sp>
      <p:sp>
        <p:nvSpPr>
          <p:cNvPr id="13" name="Text 9"/>
          <p:cNvSpPr txBox="1"/>
          <p:nvPr/>
        </p:nvSpPr>
        <p:spPr>
          <a:xfrm>
            <a:off x="4892040" y="2240280"/>
            <a:ext cx="361188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LangChain + Ollama, modèle de 7 à 8 Md</a:t>
            </a:r>
            <a:endParaRPr lang="en-US" sz="1300" dirty="0"/>
          </a:p>
          <a:p>
            <a:pPr marL="342900" indent="-342900">
              <a:spcAft>
                <a:spcPts val="400"/>
              </a:spcAft>
              <a:buSzPct val="100000"/>
              <a:buChar char="•"/>
            </a:pPr>
            <a:r>
              <a:rPr lang="en-US" sz="1300" dirty="0">
                <a:solidFill>
                  <a:schemeClr val="tx1"/>
                </a:solidFill>
              </a:rPr>
              <a:t>Aucun outil, aucun agent, aucun secret</a:t>
            </a:r>
            <a:endParaRPr lang="en-US" sz="1300" dirty="0"/>
          </a:p>
          <a:p>
            <a:pPr marL="342900" indent="-342900">
              <a:spcAft>
                <a:spcPts val="400"/>
              </a:spcAft>
              <a:buSzPct val="100000"/>
              <a:buChar char="•"/>
            </a:pPr>
            <a:r>
              <a:rPr lang="en-US" sz="1300" dirty="0">
                <a:solidFill>
                  <a:schemeClr val="tx1"/>
                </a:solidFill>
              </a:rPr>
              <a:t>Les documents sont des données, pas des ordres</a:t>
            </a:r>
            <a:endParaRPr lang="en-US" sz="1300" dirty="0"/>
          </a:p>
          <a:p>
            <a:pPr marL="342900" indent="-342900">
              <a:spcAft>
                <a:spcPts val="400"/>
              </a:spcAft>
              <a:buSzPct val="100000"/>
              <a:buChar char="•"/>
            </a:pPr>
            <a:r>
              <a:rPr lang="en-US" sz="1300" dirty="0">
                <a:solidFill>
                  <a:schemeClr val="tx1"/>
                </a:solidFill>
              </a:rPr>
              <a:t>Cite ses sources ou dit qu'il ne sait pas</a:t>
            </a:r>
            <a:endParaRPr lang="en-US" sz="1300" dirty="0"/>
          </a:p>
        </p:txBody>
      </p:sp>
      <p:sp>
        <p:nvSpPr>
          <p:cNvPr id="14" name="Text 10"/>
          <p:cNvSpPr txBox="1"/>
          <p:nvPr/>
        </p:nvSpPr>
        <p:spPr>
          <a:xfrm>
            <a:off x="457200" y="4023360"/>
            <a:ext cx="8229600" cy="548640"/>
          </a:xfrm>
          <a:prstGeom prst="rect">
            <a:avLst/>
          </a:prstGeom>
          <a:noFill/>
          <a:ln/>
        </p:spPr>
        <p:txBody>
          <a:bodyPr wrap="square" lIns="0" tIns="0" rIns="0" bIns="0" rtlCol="0" anchor="ctr"/>
          <a:lstStyle/>
          <a:p>
            <a:pPr indent="0" marL="0">
              <a:buNone/>
            </a:pPr>
            <a:r>
              <a:rPr lang="en-US" sz="1400" i="1" dirty="0">
                <a:solidFill>
                  <a:srgbClr val="B45309"/>
                </a:solidFill>
              </a:rPr>
              <a:t>Limite assumée : 132 min de trafic réel (actif et inactif) ; à réentraîner après tout changement de l'hôte.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r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Cybersécurité</a:t>
            </a:r>
            <a:endParaRPr lang="en-US" sz="3400" dirty="0"/>
          </a:p>
        </p:txBody>
      </p:sp>
      <p:sp>
        <p:nvSpPr>
          <p:cNvPr id="3" name="Message"/>
          <p:cNvSpPr txBox="1"/>
          <p:nvPr/>
        </p:nvSpPr>
        <p:spPr>
          <a:xfrm>
            <a:off x="457200" y="896112"/>
            <a:ext cx="8229600" cy="45720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Défense en profondeur, et des attaques scriptées qui refusent de sortir du labo.</a:t>
            </a:r>
            <a:endParaRPr lang="en-US" sz="1600" dirty="0"/>
          </a:p>
        </p:txBody>
      </p:sp>
      <p:sp>
        <p:nvSpPr>
          <p:cNvPr id="4" name="Shape 2"/>
          <p:cNvSpPr/>
          <p:nvPr/>
        </p:nvSpPr>
        <p:spPr>
          <a:xfrm>
            <a:off x="457200" y="1463040"/>
            <a:ext cx="4023360" cy="1417320"/>
          </a:xfrm>
          <a:prstGeom prst="rect">
            <a:avLst/>
          </a:prstGeom>
          <a:solidFill>
            <a:schemeClr val="bg2"/>
          </a:solidFill>
          <a:ln w="12700">
            <a:solidFill>
              <a:schemeClr val="bg2"/>
            </a:solidFill>
            <a:prstDash val="solid"/>
          </a:ln>
        </p:spPr>
      </p:sp>
      <p:sp>
        <p:nvSpPr>
          <p:cNvPr id="5" name="Shape 3"/>
          <p:cNvSpPr/>
          <p:nvPr/>
        </p:nvSpPr>
        <p:spPr>
          <a:xfrm>
            <a:off x="640080" y="1645920"/>
            <a:ext cx="502920" cy="502920"/>
          </a:xfrm>
          <a:prstGeom prst="ellipse">
            <a:avLst/>
          </a:prstGeom>
          <a:solidFill>
            <a:srgbClr val="14B8A6"/>
          </a:solidFill>
          <a:ln w="12700">
            <a:solidFill>
              <a:srgbClr val="14B8A6"/>
            </a:solidFill>
            <a:prstDash val="solid"/>
          </a:ln>
        </p:spPr>
      </p:sp>
      <p:pic>
        <p:nvPicPr>
          <p:cNvPr id="6" name="Image 0" descr="preencoded.png">    </p:cNvPr>
          <p:cNvPicPr>
            <a:picLocks noChangeAspect="1"/>
          </p:cNvPicPr>
          <p:nvPr/>
        </p:nvPicPr>
        <p:blipFill>
          <a:blip r:embed="rId1"/>
          <a:stretch>
            <a:fillRect/>
          </a:stretch>
        </p:blipFill>
        <p:spPr>
          <a:xfrm>
            <a:off x="749808" y="1755648"/>
            <a:ext cx="283464" cy="283464"/>
          </a:xfrm>
          <a:prstGeom prst="rect">
            <a:avLst/>
          </a:prstGeom>
        </p:spPr>
      </p:pic>
      <p:sp>
        <p:nvSpPr>
          <p:cNvPr id="7" name="Text 4"/>
          <p:cNvSpPr txBox="1"/>
          <p:nvPr/>
        </p:nvSpPr>
        <p:spPr>
          <a:xfrm>
            <a:off x="1280160" y="1645920"/>
            <a:ext cx="3063240" cy="502920"/>
          </a:xfrm>
          <a:prstGeom prst="rect">
            <a:avLst/>
          </a:prstGeom>
          <a:noFill/>
          <a:ln/>
        </p:spPr>
        <p:txBody>
          <a:bodyPr wrap="square" lIns="0" tIns="0" rIns="0" bIns="0" rtlCol="0" anchor="ctr"/>
          <a:lstStyle/>
          <a:p>
            <a:pPr indent="0" marL="0">
              <a:buNone/>
            </a:pPr>
            <a:r>
              <a:rPr lang="en-US" sz="1600" b="1" dirty="0">
                <a:solidFill>
                  <a:schemeClr val="tx1"/>
                </a:solidFill>
              </a:rPr>
              <a:t>Pare-feu applicatif</a:t>
            </a:r>
            <a:endParaRPr lang="en-US" sz="1600" dirty="0"/>
          </a:p>
        </p:txBody>
      </p:sp>
      <p:sp>
        <p:nvSpPr>
          <p:cNvPr id="8" name="Text 5"/>
          <p:cNvSpPr txBox="1"/>
          <p:nvPr/>
        </p:nvSpPr>
        <p:spPr>
          <a:xfrm>
            <a:off x="640080" y="2240280"/>
            <a:ext cx="3657600" cy="594360"/>
          </a:xfrm>
          <a:prstGeom prst="rect">
            <a:avLst/>
          </a:prstGeom>
          <a:noFill/>
          <a:ln/>
        </p:spPr>
        <p:txBody>
          <a:bodyPr wrap="square" lIns="0" tIns="0" rIns="0" bIns="0" rtlCol="0" anchor="t"/>
          <a:lstStyle/>
          <a:p>
            <a:pPr indent="0" marL="0">
              <a:buNone/>
            </a:pPr>
            <a:r>
              <a:rPr lang="en-US" sz="1200" dirty="0">
                <a:solidFill>
                  <a:srgbClr val="334155"/>
                </a:solidFill>
              </a:rPr>
              <a:t>Règles à score d'anomalie : SQL, XSS, traversée, commande. 37 tests ; 37 requêtes d'injection sur 37 refusées en exécution.</a:t>
            </a:r>
            <a:endParaRPr lang="en-US" sz="1200" dirty="0"/>
          </a:p>
        </p:txBody>
      </p:sp>
      <p:sp>
        <p:nvSpPr>
          <p:cNvPr id="9" name="Shape 6"/>
          <p:cNvSpPr/>
          <p:nvPr/>
        </p:nvSpPr>
        <p:spPr>
          <a:xfrm>
            <a:off x="4663440" y="1463040"/>
            <a:ext cx="4023360" cy="1417320"/>
          </a:xfrm>
          <a:prstGeom prst="rect">
            <a:avLst/>
          </a:prstGeom>
          <a:solidFill>
            <a:schemeClr val="bg2"/>
          </a:solidFill>
          <a:ln w="12700">
            <a:solidFill>
              <a:schemeClr val="bg2"/>
            </a:solidFill>
            <a:prstDash val="solid"/>
          </a:ln>
        </p:spPr>
      </p:sp>
      <p:sp>
        <p:nvSpPr>
          <p:cNvPr id="10" name="Shape 7"/>
          <p:cNvSpPr/>
          <p:nvPr/>
        </p:nvSpPr>
        <p:spPr>
          <a:xfrm>
            <a:off x="4846320" y="1645920"/>
            <a:ext cx="502920" cy="502920"/>
          </a:xfrm>
          <a:prstGeom prst="ellipse">
            <a:avLst/>
          </a:prstGeom>
          <a:solidFill>
            <a:srgbClr val="14B8A6"/>
          </a:solidFill>
          <a:ln w="12700">
            <a:solidFill>
              <a:srgbClr val="14B8A6"/>
            </a:solidFill>
            <a:prstDash val="solid"/>
          </a:ln>
        </p:spPr>
      </p:sp>
      <p:pic>
        <p:nvPicPr>
          <p:cNvPr id="11" name="Image 1" descr="preencoded.png">    </p:cNvPr>
          <p:cNvPicPr>
            <a:picLocks noChangeAspect="1"/>
          </p:cNvPicPr>
          <p:nvPr/>
        </p:nvPicPr>
        <p:blipFill>
          <a:blip r:embed="rId2"/>
          <a:stretch>
            <a:fillRect/>
          </a:stretch>
        </p:blipFill>
        <p:spPr>
          <a:xfrm>
            <a:off x="4956048" y="1755648"/>
            <a:ext cx="283464" cy="283464"/>
          </a:xfrm>
          <a:prstGeom prst="rect">
            <a:avLst/>
          </a:prstGeom>
        </p:spPr>
      </p:pic>
      <p:sp>
        <p:nvSpPr>
          <p:cNvPr id="12" name="Text 8"/>
          <p:cNvSpPr txBox="1"/>
          <p:nvPr/>
        </p:nvSpPr>
        <p:spPr>
          <a:xfrm>
            <a:off x="5486400" y="1645920"/>
            <a:ext cx="3063240" cy="502920"/>
          </a:xfrm>
          <a:prstGeom prst="rect">
            <a:avLst/>
          </a:prstGeom>
          <a:noFill/>
          <a:ln/>
        </p:spPr>
        <p:txBody>
          <a:bodyPr wrap="square" lIns="0" tIns="0" rIns="0" bIns="0" rtlCol="0" anchor="ctr"/>
          <a:lstStyle/>
          <a:p>
            <a:pPr indent="0" marL="0">
              <a:buNone/>
            </a:pPr>
            <a:r>
              <a:rPr lang="en-US" sz="1600" b="1" dirty="0">
                <a:solidFill>
                  <a:schemeClr val="tx1"/>
                </a:solidFill>
              </a:rPr>
              <a:t>Anti-verrouillage</a:t>
            </a:r>
            <a:endParaRPr lang="en-US" sz="1600" dirty="0"/>
          </a:p>
        </p:txBody>
      </p:sp>
      <p:sp>
        <p:nvSpPr>
          <p:cNvPr id="13" name="Text 9"/>
          <p:cNvSpPr txBox="1"/>
          <p:nvPr/>
        </p:nvSpPr>
        <p:spPr>
          <a:xfrm>
            <a:off x="4846320" y="2240280"/>
            <a:ext cx="3657600" cy="594360"/>
          </a:xfrm>
          <a:prstGeom prst="rect">
            <a:avLst/>
          </a:prstGeom>
          <a:noFill/>
          <a:ln/>
        </p:spPr>
        <p:txBody>
          <a:bodyPr wrap="square" lIns="0" tIns="0" rIns="0" bIns="0" rtlCol="0" anchor="t"/>
          <a:lstStyle/>
          <a:p>
            <a:pPr indent="0" marL="0">
              <a:buNone/>
            </a:pPr>
            <a:r>
              <a:rPr lang="en-US" sz="1200" dirty="0">
                <a:solidFill>
                  <a:srgbClr val="334155"/>
                </a:solidFill>
              </a:rPr>
              <a:t>L'IP du PC Hôte et le bouclage local ne sont jamais bannis ; bans bornés en durée et en nombre.</a:t>
            </a:r>
            <a:endParaRPr lang="en-US" sz="1200" dirty="0"/>
          </a:p>
        </p:txBody>
      </p:sp>
      <p:sp>
        <p:nvSpPr>
          <p:cNvPr id="14" name="Shape 10"/>
          <p:cNvSpPr/>
          <p:nvPr/>
        </p:nvSpPr>
        <p:spPr>
          <a:xfrm>
            <a:off x="457200" y="3063240"/>
            <a:ext cx="4023360" cy="1417320"/>
          </a:xfrm>
          <a:prstGeom prst="rect">
            <a:avLst/>
          </a:prstGeom>
          <a:solidFill>
            <a:schemeClr val="bg2"/>
          </a:solidFill>
          <a:ln w="12700">
            <a:solidFill>
              <a:schemeClr val="bg2"/>
            </a:solidFill>
            <a:prstDash val="solid"/>
          </a:ln>
        </p:spPr>
      </p:sp>
      <p:sp>
        <p:nvSpPr>
          <p:cNvPr id="15" name="Shape 11"/>
          <p:cNvSpPr/>
          <p:nvPr/>
        </p:nvSpPr>
        <p:spPr>
          <a:xfrm>
            <a:off x="640080" y="3246120"/>
            <a:ext cx="502920" cy="502920"/>
          </a:xfrm>
          <a:prstGeom prst="ellipse">
            <a:avLst/>
          </a:prstGeom>
          <a:solidFill>
            <a:srgbClr val="14B8A6"/>
          </a:solidFill>
          <a:ln w="12700">
            <a:solidFill>
              <a:srgbClr val="14B8A6"/>
            </a:solidFill>
            <a:prstDash val="solid"/>
          </a:ln>
        </p:spPr>
      </p:sp>
      <p:pic>
        <p:nvPicPr>
          <p:cNvPr id="16" name="Image 2" descr="preencoded.png">    </p:cNvPr>
          <p:cNvPicPr>
            <a:picLocks noChangeAspect="1"/>
          </p:cNvPicPr>
          <p:nvPr/>
        </p:nvPicPr>
        <p:blipFill>
          <a:blip r:embed="rId3"/>
          <a:stretch>
            <a:fillRect/>
          </a:stretch>
        </p:blipFill>
        <p:spPr>
          <a:xfrm>
            <a:off x="749808" y="3355848"/>
            <a:ext cx="283464" cy="283464"/>
          </a:xfrm>
          <a:prstGeom prst="rect">
            <a:avLst/>
          </a:prstGeom>
        </p:spPr>
      </p:pic>
      <p:sp>
        <p:nvSpPr>
          <p:cNvPr id="17" name="Text 12"/>
          <p:cNvSpPr txBox="1"/>
          <p:nvPr/>
        </p:nvSpPr>
        <p:spPr>
          <a:xfrm>
            <a:off x="1280160" y="3246120"/>
            <a:ext cx="3063240" cy="502920"/>
          </a:xfrm>
          <a:prstGeom prst="rect">
            <a:avLst/>
          </a:prstGeom>
          <a:noFill/>
          <a:ln/>
        </p:spPr>
        <p:txBody>
          <a:bodyPr wrap="square" lIns="0" tIns="0" rIns="0" bIns="0" rtlCol="0" anchor="ctr"/>
          <a:lstStyle/>
          <a:p>
            <a:pPr indent="0" marL="0">
              <a:buNone/>
            </a:pPr>
            <a:r>
              <a:rPr lang="en-US" sz="1600" b="1" dirty="0">
                <a:solidFill>
                  <a:schemeClr val="tx1"/>
                </a:solidFill>
              </a:rPr>
              <a:t>SIEM</a:t>
            </a:r>
            <a:endParaRPr lang="en-US" sz="1600" dirty="0"/>
          </a:p>
        </p:txBody>
      </p:sp>
      <p:sp>
        <p:nvSpPr>
          <p:cNvPr id="18" name="Text 13"/>
          <p:cNvSpPr txBox="1"/>
          <p:nvPr/>
        </p:nvSpPr>
        <p:spPr>
          <a:xfrm>
            <a:off x="640080" y="3840480"/>
            <a:ext cx="3657600" cy="594360"/>
          </a:xfrm>
          <a:prstGeom prst="rect">
            <a:avLst/>
          </a:prstGeom>
          <a:noFill/>
          <a:ln/>
        </p:spPr>
        <p:txBody>
          <a:bodyPr wrap="square" lIns="0" tIns="0" rIns="0" bIns="0" rtlCol="0" anchor="t"/>
          <a:lstStyle/>
          <a:p>
            <a:pPr indent="0" marL="0">
              <a:buNone/>
            </a:pPr>
            <a:r>
              <a:rPr lang="en-US" sz="1200" dirty="0">
                <a:solidFill>
                  <a:srgbClr val="334155"/>
                </a:solidFill>
              </a:rPr>
              <a:t>9 règles d'alerte MITRE ATT&amp;CK validées par promtool (dont 3 biométrie) ; journaux JSON dans Loki.</a:t>
            </a:r>
            <a:endParaRPr lang="en-US" sz="1200" dirty="0"/>
          </a:p>
        </p:txBody>
      </p:sp>
      <p:sp>
        <p:nvSpPr>
          <p:cNvPr id="19" name="Shape 14"/>
          <p:cNvSpPr/>
          <p:nvPr/>
        </p:nvSpPr>
        <p:spPr>
          <a:xfrm>
            <a:off x="4663440" y="3063240"/>
            <a:ext cx="4023360" cy="1417320"/>
          </a:xfrm>
          <a:prstGeom prst="rect">
            <a:avLst/>
          </a:prstGeom>
          <a:solidFill>
            <a:schemeClr val="bg2"/>
          </a:solidFill>
          <a:ln w="12700">
            <a:solidFill>
              <a:schemeClr val="bg2"/>
            </a:solidFill>
            <a:prstDash val="solid"/>
          </a:ln>
        </p:spPr>
      </p:sp>
      <p:sp>
        <p:nvSpPr>
          <p:cNvPr id="20" name="Shape 15"/>
          <p:cNvSpPr/>
          <p:nvPr/>
        </p:nvSpPr>
        <p:spPr>
          <a:xfrm>
            <a:off x="4846320" y="3246120"/>
            <a:ext cx="502920" cy="502920"/>
          </a:xfrm>
          <a:prstGeom prst="ellipse">
            <a:avLst/>
          </a:prstGeom>
          <a:solidFill>
            <a:srgbClr val="14B8A6"/>
          </a:solidFill>
          <a:ln w="12700">
            <a:solidFill>
              <a:srgbClr val="14B8A6"/>
            </a:solidFill>
            <a:prstDash val="solid"/>
          </a:ln>
        </p:spPr>
      </p:sp>
      <p:pic>
        <p:nvPicPr>
          <p:cNvPr id="21" name="Image 3" descr="preencoded.png">    </p:cNvPr>
          <p:cNvPicPr>
            <a:picLocks noChangeAspect="1"/>
          </p:cNvPicPr>
          <p:nvPr/>
        </p:nvPicPr>
        <p:blipFill>
          <a:blip r:embed="rId4"/>
          <a:stretch>
            <a:fillRect/>
          </a:stretch>
        </p:blipFill>
        <p:spPr>
          <a:xfrm>
            <a:off x="4956048" y="3355848"/>
            <a:ext cx="283464" cy="283464"/>
          </a:xfrm>
          <a:prstGeom prst="rect">
            <a:avLst/>
          </a:prstGeom>
        </p:spPr>
      </p:pic>
      <p:sp>
        <p:nvSpPr>
          <p:cNvPr id="22" name="Text 16"/>
          <p:cNvSpPr txBox="1"/>
          <p:nvPr/>
        </p:nvSpPr>
        <p:spPr>
          <a:xfrm>
            <a:off x="5486400" y="3246120"/>
            <a:ext cx="3063240" cy="502920"/>
          </a:xfrm>
          <a:prstGeom prst="rect">
            <a:avLst/>
          </a:prstGeom>
          <a:noFill/>
          <a:ln/>
        </p:spPr>
        <p:txBody>
          <a:bodyPr wrap="square" lIns="0" tIns="0" rIns="0" bIns="0" rtlCol="0" anchor="ctr"/>
          <a:lstStyle/>
          <a:p>
            <a:pPr indent="0" marL="0">
              <a:buNone/>
            </a:pPr>
            <a:r>
              <a:rPr lang="en-US" sz="1600" b="1" dirty="0">
                <a:solidFill>
                  <a:schemeClr val="tx1"/>
                </a:solidFill>
              </a:rPr>
              <a:t>Équipe rouge</a:t>
            </a:r>
            <a:endParaRPr lang="en-US" sz="1600" dirty="0"/>
          </a:p>
        </p:txBody>
      </p:sp>
      <p:sp>
        <p:nvSpPr>
          <p:cNvPr id="23" name="Text 17"/>
          <p:cNvSpPr txBox="1"/>
          <p:nvPr/>
        </p:nvSpPr>
        <p:spPr>
          <a:xfrm>
            <a:off x="4846320" y="3840480"/>
            <a:ext cx="3657600" cy="594360"/>
          </a:xfrm>
          <a:prstGeom prst="rect">
            <a:avLst/>
          </a:prstGeom>
          <a:noFill/>
          <a:ln/>
        </p:spPr>
        <p:txBody>
          <a:bodyPr wrap="square" lIns="0" tIns="0" rIns="0" bIns="0" rtlCol="0" anchor="t"/>
          <a:lstStyle/>
          <a:p>
            <a:pPr indent="0" marL="0">
              <a:buNone/>
            </a:pPr>
            <a:r>
              <a:rPr lang="en-US" sz="1200" dirty="0">
                <a:solidFill>
                  <a:srgbClr val="334155"/>
                </a:solidFill>
              </a:rPr>
              <a:t>Cible privée seulement, acte explicite requis, durée et débit plafonnés.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r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Gouvernance</a:t>
            </a:r>
            <a:endParaRPr lang="en-US" sz="3400" dirty="0"/>
          </a:p>
        </p:txBody>
      </p:sp>
      <p:sp>
        <p:nvSpPr>
          <p:cNvPr id="3" name="Message"/>
          <p:cNvSpPr txBox="1"/>
          <p:nvPr/>
        </p:nvSpPr>
        <p:spPr>
          <a:xfrm>
            <a:off x="457200" y="896112"/>
            <a:ext cx="8229600" cy="45720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Le risque le plus important est celui que la défense introduit elle-même.</a:t>
            </a:r>
            <a:endParaRPr lang="en-US" sz="1600" dirty="0"/>
          </a:p>
        </p:txBody>
      </p:sp>
      <p:sp>
        <p:nvSpPr>
          <p:cNvPr id="4" name="Text 2"/>
          <p:cNvSpPr txBox="1"/>
          <p:nvPr/>
        </p:nvSpPr>
        <p:spPr>
          <a:xfrm>
            <a:off x="457200" y="1417320"/>
            <a:ext cx="21945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16 → 6</a:t>
            </a:r>
            <a:endParaRPr lang="en-US" sz="4000" dirty="0"/>
          </a:p>
        </p:txBody>
      </p:sp>
      <p:sp>
        <p:nvSpPr>
          <p:cNvPr id="5" name="Text 3"/>
          <p:cNvSpPr txBox="1"/>
          <p:nvPr/>
        </p:nvSpPr>
        <p:spPr>
          <a:xfrm>
            <a:off x="457200" y="2148840"/>
            <a:ext cx="2194560" cy="822960"/>
          </a:xfrm>
          <a:prstGeom prst="rect">
            <a:avLst/>
          </a:prstGeom>
          <a:noFill/>
          <a:ln/>
        </p:spPr>
        <p:txBody>
          <a:bodyPr wrap="square" lIns="0" tIns="0" rIns="0" bIns="0" rtlCol="0" anchor="t"/>
          <a:lstStyle/>
          <a:p>
            <a:pPr indent="0" marL="0">
              <a:buNone/>
            </a:pPr>
            <a:r>
              <a:rPr lang="en-US" sz="1300" dirty="0">
                <a:solidFill>
                  <a:srgbClr val="475569"/>
                </a:solidFill>
              </a:rPr>
              <a:t>saturation applicative, risque initial puis résiduel (EBIOS RM)</a:t>
            </a:r>
            <a:endParaRPr lang="en-US" sz="1300" dirty="0"/>
          </a:p>
        </p:txBody>
      </p:sp>
      <p:sp>
        <p:nvSpPr>
          <p:cNvPr id="6" name="Shape 4"/>
          <p:cNvSpPr/>
          <p:nvPr/>
        </p:nvSpPr>
        <p:spPr>
          <a:xfrm>
            <a:off x="2926080" y="1417320"/>
            <a:ext cx="5760720" cy="621792"/>
          </a:xfrm>
          <a:prstGeom prst="rect">
            <a:avLst/>
          </a:prstGeom>
          <a:solidFill>
            <a:schemeClr val="bg2"/>
          </a:solidFill>
          <a:ln w="12700">
            <a:solidFill>
              <a:schemeClr val="bg2"/>
            </a:solidFill>
            <a:prstDash val="solid"/>
          </a:ln>
        </p:spPr>
      </p:sp>
      <p:sp>
        <p:nvSpPr>
          <p:cNvPr id="7" name="Text 5"/>
          <p:cNvSpPr txBox="1"/>
          <p:nvPr/>
        </p:nvSpPr>
        <p:spPr>
          <a:xfrm>
            <a:off x="3063240" y="1417320"/>
            <a:ext cx="2011680" cy="621792"/>
          </a:xfrm>
          <a:prstGeom prst="rect">
            <a:avLst/>
          </a:prstGeom>
          <a:noFill/>
          <a:ln/>
        </p:spPr>
        <p:txBody>
          <a:bodyPr wrap="square" lIns="0" tIns="0" rIns="0" bIns="0" rtlCol="0" anchor="ctr"/>
          <a:lstStyle/>
          <a:p>
            <a:pPr indent="0" marL="0">
              <a:buNone/>
            </a:pPr>
            <a:r>
              <a:rPr lang="en-US" sz="1300" b="1" dirty="0">
                <a:solidFill>
                  <a:schemeClr val="tx1"/>
                </a:solidFill>
              </a:rPr>
              <a:t>Moteur détourné</a:t>
            </a:r>
            <a:endParaRPr lang="en-US" sz="1300" dirty="0"/>
          </a:p>
        </p:txBody>
      </p:sp>
      <p:sp>
        <p:nvSpPr>
          <p:cNvPr id="8" name="Text 6"/>
          <p:cNvSpPr txBox="1"/>
          <p:nvPr/>
        </p:nvSpPr>
        <p:spPr>
          <a:xfrm>
            <a:off x="5120640" y="1417320"/>
            <a:ext cx="3474720" cy="621792"/>
          </a:xfrm>
          <a:prstGeom prst="rect">
            <a:avLst/>
          </a:prstGeom>
          <a:noFill/>
          <a:ln/>
        </p:spPr>
        <p:txBody>
          <a:bodyPr wrap="square" lIns="0" tIns="0" rIns="0" bIns="0" rtlCol="0" anchor="ctr"/>
          <a:lstStyle/>
          <a:p>
            <a:pPr indent="0" marL="0">
              <a:buNone/>
            </a:pPr>
            <a:r>
              <a:rPr lang="en-US" sz="1200" dirty="0">
                <a:solidFill>
                  <a:srgbClr val="334155"/>
                </a:solidFill>
              </a:rPr>
              <a:t>Liste fermée, étiquette obligatoire, budget, réseau interne</a:t>
            </a:r>
            <a:endParaRPr lang="en-US" sz="1200" dirty="0"/>
          </a:p>
        </p:txBody>
      </p:sp>
      <p:sp>
        <p:nvSpPr>
          <p:cNvPr id="9" name="Shape 7"/>
          <p:cNvSpPr/>
          <p:nvPr/>
        </p:nvSpPr>
        <p:spPr>
          <a:xfrm>
            <a:off x="2926080" y="2075688"/>
            <a:ext cx="5760720" cy="621792"/>
          </a:xfrm>
          <a:prstGeom prst="rect">
            <a:avLst/>
          </a:prstGeom>
          <a:solidFill>
            <a:schemeClr val="bg2"/>
          </a:solidFill>
          <a:ln w="12700">
            <a:solidFill>
              <a:schemeClr val="bg2"/>
            </a:solidFill>
            <a:prstDash val="solid"/>
          </a:ln>
        </p:spPr>
      </p:sp>
      <p:sp>
        <p:nvSpPr>
          <p:cNvPr id="10" name="Text 8"/>
          <p:cNvSpPr txBox="1"/>
          <p:nvPr/>
        </p:nvSpPr>
        <p:spPr>
          <a:xfrm>
            <a:off x="3063240" y="2075688"/>
            <a:ext cx="2011680" cy="621792"/>
          </a:xfrm>
          <a:prstGeom prst="rect">
            <a:avLst/>
          </a:prstGeom>
          <a:noFill/>
          <a:ln/>
        </p:spPr>
        <p:txBody>
          <a:bodyPr wrap="square" lIns="0" tIns="0" rIns="0" bIns="0" rtlCol="0" anchor="ctr"/>
          <a:lstStyle/>
          <a:p>
            <a:pPr indent="0" marL="0">
              <a:buNone/>
            </a:pPr>
            <a:r>
              <a:rPr lang="en-US" sz="1300" b="1" dirty="0">
                <a:solidFill>
                  <a:schemeClr val="tx1"/>
                </a:solidFill>
              </a:rPr>
              <a:t>Faux positif du ML</a:t>
            </a:r>
            <a:endParaRPr lang="en-US" sz="1300" dirty="0"/>
          </a:p>
        </p:txBody>
      </p:sp>
      <p:sp>
        <p:nvSpPr>
          <p:cNvPr id="11" name="Text 9"/>
          <p:cNvSpPr txBox="1"/>
          <p:nvPr/>
        </p:nvSpPr>
        <p:spPr>
          <a:xfrm>
            <a:off x="5120640" y="2075688"/>
            <a:ext cx="3474720" cy="621792"/>
          </a:xfrm>
          <a:prstGeom prst="rect">
            <a:avLst/>
          </a:prstGeom>
          <a:noFill/>
          <a:ln/>
        </p:spPr>
        <p:txBody>
          <a:bodyPr wrap="square" lIns="0" tIns="0" rIns="0" bIns="0" rtlCol="0" anchor="ctr"/>
          <a:lstStyle/>
          <a:p>
            <a:pPr indent="0" marL="0">
              <a:buNone/>
            </a:pPr>
            <a:r>
              <a:rPr lang="en-US" sz="1200" dirty="0">
                <a:solidFill>
                  <a:srgbClr val="334155"/>
                </a:solidFill>
              </a:rPr>
              <a:t>Aucune action sur classe inconnue, bans bornés, anti-verrouillage</a:t>
            </a:r>
            <a:endParaRPr lang="en-US" sz="1200" dirty="0"/>
          </a:p>
        </p:txBody>
      </p:sp>
      <p:sp>
        <p:nvSpPr>
          <p:cNvPr id="12" name="Shape 10"/>
          <p:cNvSpPr/>
          <p:nvPr/>
        </p:nvSpPr>
        <p:spPr>
          <a:xfrm>
            <a:off x="2926080" y="2734056"/>
            <a:ext cx="5760720" cy="621792"/>
          </a:xfrm>
          <a:prstGeom prst="rect">
            <a:avLst/>
          </a:prstGeom>
          <a:solidFill>
            <a:srgbClr val="FEF3C7"/>
          </a:solidFill>
          <a:ln w="12700">
            <a:solidFill>
              <a:srgbClr val="FEF3C7"/>
            </a:solidFill>
            <a:prstDash val="solid"/>
          </a:ln>
        </p:spPr>
      </p:sp>
      <p:sp>
        <p:nvSpPr>
          <p:cNvPr id="13" name="Text 11"/>
          <p:cNvSpPr txBox="1"/>
          <p:nvPr/>
        </p:nvSpPr>
        <p:spPr>
          <a:xfrm>
            <a:off x="3063240" y="2734056"/>
            <a:ext cx="2011680" cy="621792"/>
          </a:xfrm>
          <a:prstGeom prst="rect">
            <a:avLst/>
          </a:prstGeom>
          <a:noFill/>
          <a:ln/>
        </p:spPr>
        <p:txBody>
          <a:bodyPr wrap="square" lIns="0" tIns="0" rIns="0" bIns="0" rtlCol="0" anchor="ctr"/>
          <a:lstStyle/>
          <a:p>
            <a:pPr indent="0" marL="0">
              <a:buNone/>
            </a:pPr>
            <a:r>
              <a:rPr lang="en-US" sz="1300" b="1" dirty="0">
                <a:solidFill>
                  <a:schemeClr val="tx1"/>
                </a:solidFill>
              </a:rPr>
              <a:t>Chaîne d'approvisionnement</a:t>
            </a:r>
            <a:endParaRPr lang="en-US" sz="1300" dirty="0"/>
          </a:p>
        </p:txBody>
      </p:sp>
      <p:sp>
        <p:nvSpPr>
          <p:cNvPr id="14" name="Text 12"/>
          <p:cNvSpPr txBox="1"/>
          <p:nvPr/>
        </p:nvSpPr>
        <p:spPr>
          <a:xfrm>
            <a:off x="5120640" y="2734056"/>
            <a:ext cx="3474720" cy="621792"/>
          </a:xfrm>
          <a:prstGeom prst="rect">
            <a:avLst/>
          </a:prstGeom>
          <a:noFill/>
          <a:ln/>
        </p:spPr>
        <p:txBody>
          <a:bodyPr wrap="square" lIns="0" tIns="0" rIns="0" bIns="0" rtlCol="0" anchor="ctr"/>
          <a:lstStyle/>
          <a:p>
            <a:pPr indent="0" marL="0">
              <a:buNone/>
            </a:pPr>
            <a:r>
              <a:rPr lang="en-US" sz="1200" dirty="0">
                <a:solidFill>
                  <a:srgbClr val="334155"/>
                </a:solidFill>
              </a:rPr>
              <a:t>NON TRAITÉ : aucun scan d'images</a:t>
            </a:r>
            <a:endParaRPr lang="en-US" sz="1200" dirty="0"/>
          </a:p>
        </p:txBody>
      </p:sp>
      <p:sp>
        <p:nvSpPr>
          <p:cNvPr id="15" name="Shape 13"/>
          <p:cNvSpPr/>
          <p:nvPr/>
        </p:nvSpPr>
        <p:spPr>
          <a:xfrm>
            <a:off x="2926080" y="3392424"/>
            <a:ext cx="5760720" cy="621792"/>
          </a:xfrm>
          <a:prstGeom prst="rect">
            <a:avLst/>
          </a:prstGeom>
          <a:solidFill>
            <a:srgbClr val="FEF3C7"/>
          </a:solidFill>
          <a:ln w="12700">
            <a:solidFill>
              <a:srgbClr val="FEF3C7"/>
            </a:solidFill>
            <a:prstDash val="solid"/>
          </a:ln>
        </p:spPr>
      </p:sp>
      <p:sp>
        <p:nvSpPr>
          <p:cNvPr id="16" name="Text 14"/>
          <p:cNvSpPr txBox="1"/>
          <p:nvPr/>
        </p:nvSpPr>
        <p:spPr>
          <a:xfrm>
            <a:off x="3063240" y="3392424"/>
            <a:ext cx="2011680" cy="621792"/>
          </a:xfrm>
          <a:prstGeom prst="rect">
            <a:avLst/>
          </a:prstGeom>
          <a:noFill/>
          <a:ln/>
        </p:spPr>
        <p:txBody>
          <a:bodyPr wrap="square" lIns="0" tIns="0" rIns="0" bIns="0" rtlCol="0" anchor="ctr"/>
          <a:lstStyle/>
          <a:p>
            <a:pPr indent="0" marL="0">
              <a:buNone/>
            </a:pPr>
            <a:r>
              <a:rPr lang="en-US" sz="1300" b="1" dirty="0">
                <a:solidFill>
                  <a:schemeClr val="tx1"/>
                </a:solidFill>
              </a:rPr>
              <a:t>Trafic en clair</a:t>
            </a:r>
            <a:endParaRPr lang="en-US" sz="1300" dirty="0"/>
          </a:p>
        </p:txBody>
      </p:sp>
      <p:sp>
        <p:nvSpPr>
          <p:cNvPr id="17" name="Text 15"/>
          <p:cNvSpPr txBox="1"/>
          <p:nvPr/>
        </p:nvSpPr>
        <p:spPr>
          <a:xfrm>
            <a:off x="5120640" y="3392424"/>
            <a:ext cx="3474720" cy="621792"/>
          </a:xfrm>
          <a:prstGeom prst="rect">
            <a:avLst/>
          </a:prstGeom>
          <a:noFill/>
          <a:ln/>
        </p:spPr>
        <p:txBody>
          <a:bodyPr wrap="square" lIns="0" tIns="0" rIns="0" bIns="0" rtlCol="0" anchor="ctr"/>
          <a:lstStyle/>
          <a:p>
            <a:pPr indent="0" marL="0">
              <a:buNone/>
            </a:pPr>
            <a:r>
              <a:rPr lang="en-US" sz="1200" dirty="0">
                <a:solidFill>
                  <a:srgbClr val="334155"/>
                </a:solidFill>
              </a:rPr>
              <a:t>ÉCART ASSUMÉ : pas de TLS</a:t>
            </a:r>
            <a:endParaRPr lang="en-US" sz="1200" dirty="0"/>
          </a:p>
        </p:txBody>
      </p:sp>
      <p:sp>
        <p:nvSpPr>
          <p:cNvPr id="18" name="Text 16"/>
          <p:cNvSpPr txBox="1"/>
          <p:nvPr/>
        </p:nvSpPr>
        <p:spPr>
          <a:xfrm>
            <a:off x="457200" y="4160520"/>
            <a:ext cx="8229600" cy="457200"/>
          </a:xfrm>
          <a:prstGeom prst="rect">
            <a:avLst/>
          </a:prstGeom>
          <a:noFill/>
          <a:ln/>
        </p:spPr>
        <p:txBody>
          <a:bodyPr wrap="square" lIns="0" tIns="0" rIns="0" bIns="0" rtlCol="0" anchor="t"/>
          <a:lstStyle/>
          <a:p>
            <a:pPr indent="0" marL="0">
              <a:buNone/>
            </a:pPr>
            <a:r>
              <a:rPr lang="en-US" sz="1200" dirty="0">
                <a:solidFill>
                  <a:srgbClr val="475569"/>
                </a:solidFill>
              </a:rPr>
              <a:t>PCA/PRA : 7 scénarios, ordre de reconstruction, sauvegarde et restauration rejouées sous Docker (Ansible, 19 s). NIS2 et DORA : cartographie couvert / partiel / écart, sans prétention de conformité. EBIOS : 15 risques, dont la biométrie.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r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Ce qui reste à prouver</a:t>
            </a:r>
            <a:endParaRPr lang="en-US" sz="3400" dirty="0"/>
          </a:p>
        </p:txBody>
      </p:sp>
      <p:sp>
        <p:nvSpPr>
          <p:cNvPr id="3" name="Message"/>
          <p:cNvSpPr txBox="1"/>
          <p:nvPr/>
        </p:nvSpPr>
        <p:spPr>
          <a:xfrm>
            <a:off x="457200" y="896112"/>
            <a:ext cx="8229600" cy="45720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Ce qui reste à prouver sur le dispositif final, et comment nous le vérifions.</a:t>
            </a:r>
            <a:endParaRPr lang="en-US" sz="1600" dirty="0"/>
          </a:p>
        </p:txBody>
      </p:sp>
      <p:sp>
        <p:nvSpPr>
          <p:cNvPr id="4" name="Shape 2"/>
          <p:cNvSpPr/>
          <p:nvPr/>
        </p:nvSpPr>
        <p:spPr>
          <a:xfrm>
            <a:off x="457200" y="1481328"/>
            <a:ext cx="365760" cy="365760"/>
          </a:xfrm>
          <a:prstGeom prst="ellipse">
            <a:avLst/>
          </a:prstGeom>
          <a:solidFill>
            <a:srgbClr val="F59E0B"/>
          </a:solidFill>
          <a:ln w="12700">
            <a:solidFill>
              <a:srgbClr val="F59E0B"/>
            </a:solidFill>
            <a:prstDash val="solid"/>
          </a:ln>
        </p:spPr>
      </p:sp>
      <p:sp>
        <p:nvSpPr>
          <p:cNvPr id="5" name="Text 3"/>
          <p:cNvSpPr txBox="1"/>
          <p:nvPr/>
        </p:nvSpPr>
        <p:spPr>
          <a:xfrm>
            <a:off x="457200" y="1481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005840" y="1417320"/>
            <a:ext cx="3749040" cy="502920"/>
          </a:xfrm>
          <a:prstGeom prst="rect">
            <a:avLst/>
          </a:prstGeom>
          <a:noFill/>
          <a:ln/>
        </p:spPr>
        <p:txBody>
          <a:bodyPr wrap="square" lIns="0" tIns="0" rIns="0" bIns="0" rtlCol="0" anchor="ctr"/>
          <a:lstStyle/>
          <a:p>
            <a:pPr indent="0" marL="0">
              <a:buNone/>
            </a:pPr>
            <a:r>
              <a:rPr lang="en-US" sz="1400" b="1" dirty="0">
                <a:solidFill>
                  <a:schemeClr val="tx1"/>
                </a:solidFill>
              </a:rPr>
              <a:t>ESP8266 physique et taux d'erreur du visage</a:t>
            </a:r>
            <a:endParaRPr lang="en-US" sz="1400" dirty="0"/>
          </a:p>
        </p:txBody>
      </p:sp>
      <p:sp>
        <p:nvSpPr>
          <p:cNvPr id="7" name="Text 5"/>
          <p:cNvSpPr txBox="1"/>
          <p:nvPr/>
        </p:nvSpPr>
        <p:spPr>
          <a:xfrm>
            <a:off x="4846320" y="1417320"/>
            <a:ext cx="3840480" cy="502920"/>
          </a:xfrm>
          <a:prstGeom prst="rect">
            <a:avLst/>
          </a:prstGeom>
          <a:noFill/>
          <a:ln/>
        </p:spPr>
        <p:txBody>
          <a:bodyPr wrap="square" lIns="0" tIns="0" rIns="0" bIns="0" rtlCol="0" anchor="ctr"/>
          <a:lstStyle/>
          <a:p>
            <a:pPr indent="0" marL="0">
              <a:buNone/>
            </a:pPr>
            <a:r>
              <a:rPr lang="en-US" sz="1300" dirty="0">
                <a:solidFill>
                  <a:srgbClr val="475569"/>
                </a:solidFill>
              </a:rPr>
              <a:t>Flasher le firmware (CLion) ; mesurer faux rejets/accepts sur plusieurs personnes</a:t>
            </a:r>
            <a:endParaRPr lang="en-US" sz="1300" dirty="0"/>
          </a:p>
        </p:txBody>
      </p:sp>
      <p:sp>
        <p:nvSpPr>
          <p:cNvPr id="8" name="Shape 6"/>
          <p:cNvSpPr/>
          <p:nvPr/>
        </p:nvSpPr>
        <p:spPr>
          <a:xfrm>
            <a:off x="457200" y="2066544"/>
            <a:ext cx="365760" cy="365760"/>
          </a:xfrm>
          <a:prstGeom prst="ellipse">
            <a:avLst/>
          </a:prstGeom>
          <a:solidFill>
            <a:srgbClr val="EF4444"/>
          </a:solidFill>
          <a:ln w="12700">
            <a:solidFill>
              <a:srgbClr val="EF4444"/>
            </a:solidFill>
            <a:prstDash val="solid"/>
          </a:ln>
        </p:spPr>
      </p:sp>
      <p:sp>
        <p:nvSpPr>
          <p:cNvPr id="9" name="Text 7"/>
          <p:cNvSpPr txBox="1"/>
          <p:nvPr/>
        </p:nvSpPr>
        <p:spPr>
          <a:xfrm>
            <a:off x="457200" y="20665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1005840" y="2002536"/>
            <a:ext cx="3749040" cy="502920"/>
          </a:xfrm>
          <a:prstGeom prst="rect">
            <a:avLst/>
          </a:prstGeom>
          <a:noFill/>
          <a:ln/>
        </p:spPr>
        <p:txBody>
          <a:bodyPr wrap="square" lIns="0" tIns="0" rIns="0" bIns="0" rtlCol="0" anchor="ctr"/>
          <a:lstStyle/>
          <a:p>
            <a:pPr indent="0" marL="0">
              <a:buNone/>
            </a:pPr>
            <a:r>
              <a:rPr lang="en-US" sz="1400" b="1" dirty="0">
                <a:solidFill>
                  <a:schemeClr val="tx1"/>
                </a:solidFill>
              </a:rPr>
              <a:t>Attaque depuis un second PC</a:t>
            </a:r>
            <a:endParaRPr lang="en-US" sz="1400" dirty="0"/>
          </a:p>
        </p:txBody>
      </p:sp>
      <p:sp>
        <p:nvSpPr>
          <p:cNvPr id="11" name="Text 9"/>
          <p:cNvSpPr txBox="1"/>
          <p:nvPr/>
        </p:nvSpPr>
        <p:spPr>
          <a:xfrm>
            <a:off x="4846320" y="2002536"/>
            <a:ext cx="3840480" cy="502920"/>
          </a:xfrm>
          <a:prstGeom prst="rect">
            <a:avLst/>
          </a:prstGeom>
          <a:noFill/>
          <a:ln/>
        </p:spPr>
        <p:txBody>
          <a:bodyPr wrap="square" lIns="0" tIns="0" rIns="0" bIns="0" rtlCol="0" anchor="ctr"/>
          <a:lstStyle/>
          <a:p>
            <a:pPr indent="0" marL="0">
              <a:buNone/>
            </a:pPr>
            <a:r>
              <a:rPr lang="en-US" sz="1300" dirty="0">
                <a:solidFill>
                  <a:srgbClr val="475569"/>
                </a:solidFill>
              </a:rPr>
              <a:t>Lire l'IP source vue par le WAF, TRUSTED_PROXIES vide</a:t>
            </a:r>
            <a:endParaRPr lang="en-US" sz="1300" dirty="0"/>
          </a:p>
        </p:txBody>
      </p:sp>
      <p:sp>
        <p:nvSpPr>
          <p:cNvPr id="12" name="Shape 10"/>
          <p:cNvSpPr/>
          <p:nvPr/>
        </p:nvSpPr>
        <p:spPr>
          <a:xfrm>
            <a:off x="457200" y="2651760"/>
            <a:ext cx="365760" cy="365760"/>
          </a:xfrm>
          <a:prstGeom prst="ellipse">
            <a:avLst/>
          </a:prstGeom>
          <a:solidFill>
            <a:srgbClr val="F59E0B"/>
          </a:solidFill>
          <a:ln w="12700">
            <a:solidFill>
              <a:srgbClr val="F59E0B"/>
            </a:solidFill>
            <a:prstDash val="solid"/>
          </a:ln>
        </p:spPr>
      </p:sp>
      <p:sp>
        <p:nvSpPr>
          <p:cNvPr id="13" name="Text 11"/>
          <p:cNvSpPr txBox="1"/>
          <p:nvPr/>
        </p:nvSpPr>
        <p:spPr>
          <a:xfrm>
            <a:off x="457200" y="2651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005840" y="2587752"/>
            <a:ext cx="3749040" cy="502920"/>
          </a:xfrm>
          <a:prstGeom prst="rect">
            <a:avLst/>
          </a:prstGeom>
          <a:noFill/>
          <a:ln/>
        </p:spPr>
        <p:txBody>
          <a:bodyPr wrap="square" lIns="0" tIns="0" rIns="0" bIns="0" rtlCol="0" anchor="ctr"/>
          <a:lstStyle/>
          <a:p>
            <a:pPr indent="0" marL="0">
              <a:buNone/>
            </a:pPr>
            <a:r>
              <a:rPr lang="en-US" sz="1400" b="1" dirty="0">
                <a:solidFill>
                  <a:schemeClr val="tx1"/>
                </a:solidFill>
              </a:rPr>
              <a:t>Détecteur sur le dispositif final</a:t>
            </a:r>
            <a:endParaRPr lang="en-US" sz="1400" dirty="0"/>
          </a:p>
        </p:txBody>
      </p:sp>
      <p:sp>
        <p:nvSpPr>
          <p:cNvPr id="15" name="Text 13"/>
          <p:cNvSpPr txBox="1"/>
          <p:nvPr/>
        </p:nvSpPr>
        <p:spPr>
          <a:xfrm>
            <a:off x="4846320" y="2587752"/>
            <a:ext cx="3840480" cy="502920"/>
          </a:xfrm>
          <a:prstGeom prst="rect">
            <a:avLst/>
          </a:prstGeom>
          <a:noFill/>
          <a:ln/>
        </p:spPr>
        <p:txBody>
          <a:bodyPr wrap="square" lIns="0" tIns="0" rIns="0" bIns="0" rtlCol="0" anchor="ctr"/>
          <a:lstStyle/>
          <a:p>
            <a:pPr indent="0" marL="0">
              <a:buNone/>
            </a:pPr>
            <a:r>
              <a:rPr lang="en-US" sz="1300" dirty="0">
                <a:solidFill>
                  <a:srgbClr val="475569"/>
                </a:solidFill>
              </a:rPr>
              <a:t>Réentraîner (≥ 2 h), puis répéter 3 fois depuis le PC Attaquant</a:t>
            </a:r>
            <a:endParaRPr lang="en-US" sz="1300" dirty="0"/>
          </a:p>
        </p:txBody>
      </p:sp>
      <p:sp>
        <p:nvSpPr>
          <p:cNvPr id="16" name="Shape 14"/>
          <p:cNvSpPr/>
          <p:nvPr/>
        </p:nvSpPr>
        <p:spPr>
          <a:xfrm>
            <a:off x="457200" y="3236976"/>
            <a:ext cx="365760" cy="365760"/>
          </a:xfrm>
          <a:prstGeom prst="ellipse">
            <a:avLst/>
          </a:prstGeom>
          <a:solidFill>
            <a:srgbClr val="F59E0B"/>
          </a:solidFill>
          <a:ln w="12700">
            <a:solidFill>
              <a:srgbClr val="F59E0B"/>
            </a:solidFill>
            <a:prstDash val="solid"/>
          </a:ln>
        </p:spPr>
      </p:sp>
      <p:sp>
        <p:nvSpPr>
          <p:cNvPr id="17" name="Text 15"/>
          <p:cNvSpPr txBox="1"/>
          <p:nvPr/>
        </p:nvSpPr>
        <p:spPr>
          <a:xfrm>
            <a:off x="457200" y="323697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1005840" y="3172968"/>
            <a:ext cx="3749040" cy="502920"/>
          </a:xfrm>
          <a:prstGeom prst="rect">
            <a:avLst/>
          </a:prstGeom>
          <a:noFill/>
          <a:ln/>
        </p:spPr>
        <p:txBody>
          <a:bodyPr wrap="square" lIns="0" tIns="0" rIns="0" bIns="0" rtlCol="0" anchor="ctr"/>
          <a:lstStyle/>
          <a:p>
            <a:pPr indent="0" marL="0">
              <a:buNone/>
            </a:pPr>
            <a:r>
              <a:rPr lang="en-US" sz="1400" b="1" dirty="0">
                <a:solidFill>
                  <a:schemeClr val="tx1"/>
                </a:solidFill>
              </a:rPr>
              <a:t>Vidéo de 60 s ; RAG avec Ollama réel</a:t>
            </a:r>
            <a:endParaRPr lang="en-US" sz="1400" dirty="0"/>
          </a:p>
        </p:txBody>
      </p:sp>
      <p:sp>
        <p:nvSpPr>
          <p:cNvPr id="19" name="Text 17"/>
          <p:cNvSpPr txBox="1"/>
          <p:nvPr/>
        </p:nvSpPr>
        <p:spPr>
          <a:xfrm>
            <a:off x="4846320" y="3172968"/>
            <a:ext cx="3840480" cy="502920"/>
          </a:xfrm>
          <a:prstGeom prst="rect">
            <a:avLst/>
          </a:prstGeom>
          <a:noFill/>
          <a:ln/>
        </p:spPr>
        <p:txBody>
          <a:bodyPr wrap="square" lIns="0" tIns="0" rIns="0" bIns="0" rtlCol="0" anchor="ctr"/>
          <a:lstStyle/>
          <a:p>
            <a:pPr indent="0" marL="0">
              <a:buNone/>
            </a:pPr>
            <a:r>
              <a:rPr lang="en-US" sz="1300" dirty="0">
                <a:solidFill>
                  <a:srgbClr val="475569"/>
                </a:solidFill>
              </a:rPr>
              <a:t>Filmer depuis le PC Attaquant ; installer Ollama et calibrer</a:t>
            </a:r>
            <a:endParaRPr lang="en-US" sz="1300" dirty="0"/>
          </a:p>
        </p:txBody>
      </p:sp>
      <p:sp>
        <p:nvSpPr>
          <p:cNvPr id="20" name="Shape 18"/>
          <p:cNvSpPr/>
          <p:nvPr/>
        </p:nvSpPr>
        <p:spPr>
          <a:xfrm>
            <a:off x="457200" y="3822192"/>
            <a:ext cx="365760" cy="365760"/>
          </a:xfrm>
          <a:prstGeom prst="ellipse">
            <a:avLst/>
          </a:prstGeom>
          <a:solidFill>
            <a:srgbClr val="F59E0B"/>
          </a:solidFill>
          <a:ln w="12700">
            <a:solidFill>
              <a:srgbClr val="F59E0B"/>
            </a:solidFill>
            <a:prstDash val="solid"/>
          </a:ln>
        </p:spPr>
      </p:sp>
      <p:sp>
        <p:nvSpPr>
          <p:cNvPr id="21" name="Text 19"/>
          <p:cNvSpPr txBox="1"/>
          <p:nvPr/>
        </p:nvSpPr>
        <p:spPr>
          <a:xfrm>
            <a:off x="457200" y="38221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1005840" y="3758184"/>
            <a:ext cx="3749040" cy="502920"/>
          </a:xfrm>
          <a:prstGeom prst="rect">
            <a:avLst/>
          </a:prstGeom>
          <a:noFill/>
          <a:ln/>
        </p:spPr>
        <p:txBody>
          <a:bodyPr wrap="square" lIns="0" tIns="0" rIns="0" bIns="0" rtlCol="0" anchor="ctr"/>
          <a:lstStyle/>
          <a:p>
            <a:pPr indent="0" marL="0">
              <a:buNone/>
            </a:pPr>
            <a:r>
              <a:rPr lang="en-US" sz="1400" b="1" dirty="0">
                <a:solidFill>
                  <a:schemeClr val="tx1"/>
                </a:solidFill>
              </a:rPr>
              <a:t>TLS, vivacité faciale, scan d'images</a:t>
            </a:r>
            <a:endParaRPr lang="en-US" sz="1400" dirty="0"/>
          </a:p>
        </p:txBody>
      </p:sp>
      <p:sp>
        <p:nvSpPr>
          <p:cNvPr id="23" name="Text 21"/>
          <p:cNvSpPr txBox="1"/>
          <p:nvPr/>
        </p:nvSpPr>
        <p:spPr>
          <a:xfrm>
            <a:off x="4846320" y="3758184"/>
            <a:ext cx="3840480" cy="502920"/>
          </a:xfrm>
          <a:prstGeom prst="rect">
            <a:avLst/>
          </a:prstGeom>
          <a:noFill/>
          <a:ln/>
        </p:spPr>
        <p:txBody>
          <a:bodyPr wrap="square" lIns="0" tIns="0" rIns="0" bIns="0" rtlCol="0" anchor="ctr"/>
          <a:lstStyle/>
          <a:p>
            <a:pPr indent="0" marL="0">
              <a:buNone/>
            </a:pPr>
            <a:r>
              <a:rPr lang="en-US" sz="1300" dirty="0">
                <a:solidFill>
                  <a:srgbClr val="475569"/>
                </a:solidFill>
              </a:rPr>
              <a:t>Écarts assumés, premiers sujets d'une feuille de route</a:t>
            </a:r>
            <a:endParaRPr lang="en-US" sz="1300" dirty="0"/>
          </a:p>
        </p:txBody>
      </p:sp>
      <p:sp>
        <p:nvSpPr>
          <p:cNvPr id="24" name="Text 22"/>
          <p:cNvSpPr txBox="1"/>
          <p:nvPr/>
        </p:nvSpPr>
        <p:spPr>
          <a:xfrm>
            <a:off x="457200" y="4434840"/>
            <a:ext cx="5486400" cy="228600"/>
          </a:xfrm>
          <a:prstGeom prst="rect">
            <a:avLst/>
          </a:prstGeom>
          <a:noFill/>
          <a:ln/>
        </p:spPr>
        <p:txBody>
          <a:bodyPr wrap="square" lIns="0" tIns="0" rIns="0" bIns="0" rtlCol="0" anchor="ctr"/>
          <a:lstStyle/>
          <a:p>
            <a:pPr indent="0" marL="0">
              <a:buNone/>
            </a:pPr>
            <a:r>
              <a:rPr lang="en-US" sz="1100" i="1" dirty="0">
                <a:solidFill>
                  <a:srgbClr val="64748B"/>
                </a:solidFill>
              </a:rPr>
              <a:t>En rouge : le risque principal, à vérifier en premier.</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57200"/>
            <a:ext cx="786384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La démonstration</a:t>
            </a:r>
            <a:endParaRPr lang="en-US" sz="4000" dirty="0"/>
          </a:p>
        </p:txBody>
      </p:sp>
      <p:sp>
        <p:nvSpPr>
          <p:cNvPr id="3" name="Text 1"/>
          <p:cNvSpPr txBox="1"/>
          <p:nvPr/>
        </p:nvSpPr>
        <p:spPr>
          <a:xfrm>
            <a:off x="640080" y="1234440"/>
            <a:ext cx="7863840" cy="457200"/>
          </a:xfrm>
          <a:prstGeom prst="rect">
            <a:avLst/>
          </a:prstGeom>
          <a:noFill/>
          <a:ln/>
        </p:spPr>
        <p:txBody>
          <a:bodyPr wrap="square" lIns="0" tIns="0" rIns="0" bIns="0" rtlCol="0" anchor="ctr"/>
          <a:lstStyle/>
          <a:p>
            <a:pPr indent="0" marL="0">
              <a:buNone/>
            </a:pPr>
            <a:r>
              <a:rPr lang="en-US" sz="1800" dirty="0">
                <a:solidFill>
                  <a:srgbClr val="5EEAD4"/>
                </a:solidFill>
              </a:rPr>
              <a:t>Nous lançons l'attaque. Nous ne touchons plus à rien.</a:t>
            </a:r>
            <a:endParaRPr lang="en-US" sz="1800" dirty="0"/>
          </a:p>
        </p:txBody>
      </p:sp>
      <p:sp>
        <p:nvSpPr>
          <p:cNvPr id="4" name="Shape 2"/>
          <p:cNvSpPr/>
          <p:nvPr/>
        </p:nvSpPr>
        <p:spPr>
          <a:xfrm>
            <a:off x="640080" y="2011680"/>
            <a:ext cx="365760" cy="365760"/>
          </a:xfrm>
          <a:prstGeom prst="ellipse">
            <a:avLst/>
          </a:prstGeom>
          <a:solidFill>
            <a:srgbClr val="14B8A6"/>
          </a:solidFill>
          <a:ln w="12700">
            <a:solidFill>
              <a:srgbClr val="14B8A6"/>
            </a:solidFill>
            <a:prstDash val="solid"/>
          </a:ln>
        </p:spPr>
      </p:sp>
      <p:sp>
        <p:nvSpPr>
          <p:cNvPr id="5" name="Text 3"/>
          <p:cNvSpPr txBox="1"/>
          <p:nvPr/>
        </p:nvSpPr>
        <p:spPr>
          <a:xfrm>
            <a:off x="640080" y="2011680"/>
            <a:ext cx="365760" cy="365760"/>
          </a:xfrm>
          <a:prstGeom prst="rect">
            <a:avLst/>
          </a:prstGeom>
          <a:noFill/>
          <a:ln/>
        </p:spPr>
        <p:txBody>
          <a:bodyPr wrap="square" lIns="0" tIns="0" rIns="0" bIns="0" rtlCol="0" anchor="ctr"/>
          <a:lstStyle/>
          <a:p>
            <a:pPr algn="ctr" indent="0" marL="0">
              <a:buNone/>
            </a:pPr>
            <a:r>
              <a:rPr lang="en-US" sz="1400" b="1" dirty="0">
                <a:solidFill>
                  <a:srgbClr val="0F172A"/>
                </a:solidFill>
              </a:rPr>
              <a:t>1</a:t>
            </a:r>
            <a:endParaRPr lang="en-US" sz="1400" dirty="0"/>
          </a:p>
        </p:txBody>
      </p:sp>
      <p:sp>
        <p:nvSpPr>
          <p:cNvPr id="6" name="Text 4"/>
          <p:cNvSpPr txBox="1"/>
          <p:nvPr/>
        </p:nvSpPr>
        <p:spPr>
          <a:xfrm>
            <a:off x="1188720" y="2011680"/>
            <a:ext cx="7132320" cy="365760"/>
          </a:xfrm>
          <a:prstGeom prst="rect">
            <a:avLst/>
          </a:prstGeom>
          <a:noFill/>
          <a:ln/>
        </p:spPr>
        <p:txBody>
          <a:bodyPr wrap="square" lIns="0" tIns="0" rIns="0" bIns="0" rtlCol="0" anchor="ctr"/>
          <a:lstStyle/>
          <a:p>
            <a:pPr indent="0" marL="0">
              <a:buNone/>
            </a:pPr>
            <a:r>
              <a:rPr lang="en-US" sz="1800" dirty="0">
                <a:solidFill>
                  <a:srgbClr val="E2E8F0"/>
                </a:solidFill>
              </a:rPr>
              <a:t>Tableau de bord : état opérationnel</a:t>
            </a:r>
            <a:endParaRPr lang="en-US" sz="1800" dirty="0"/>
          </a:p>
        </p:txBody>
      </p:sp>
      <p:sp>
        <p:nvSpPr>
          <p:cNvPr id="7" name="Shape 5"/>
          <p:cNvSpPr/>
          <p:nvPr/>
        </p:nvSpPr>
        <p:spPr>
          <a:xfrm>
            <a:off x="640080" y="2542032"/>
            <a:ext cx="365760" cy="365760"/>
          </a:xfrm>
          <a:prstGeom prst="ellipse">
            <a:avLst/>
          </a:prstGeom>
          <a:solidFill>
            <a:srgbClr val="14B8A6"/>
          </a:solidFill>
          <a:ln w="12700">
            <a:solidFill>
              <a:srgbClr val="14B8A6"/>
            </a:solidFill>
            <a:prstDash val="solid"/>
          </a:ln>
        </p:spPr>
      </p:sp>
      <p:sp>
        <p:nvSpPr>
          <p:cNvPr id="8" name="Text 6"/>
          <p:cNvSpPr txBox="1"/>
          <p:nvPr/>
        </p:nvSpPr>
        <p:spPr>
          <a:xfrm>
            <a:off x="640080" y="2542032"/>
            <a:ext cx="365760" cy="365760"/>
          </a:xfrm>
          <a:prstGeom prst="rect">
            <a:avLst/>
          </a:prstGeom>
          <a:noFill/>
          <a:ln/>
        </p:spPr>
        <p:txBody>
          <a:bodyPr wrap="square" lIns="0" tIns="0" rIns="0" bIns="0" rtlCol="0" anchor="ctr"/>
          <a:lstStyle/>
          <a:p>
            <a:pPr algn="ctr" indent="0" marL="0">
              <a:buNone/>
            </a:pPr>
            <a:r>
              <a:rPr lang="en-US" sz="1400" b="1" dirty="0">
                <a:solidFill>
                  <a:srgbClr val="0F172A"/>
                </a:solidFill>
              </a:rPr>
              <a:t>2</a:t>
            </a:r>
            <a:endParaRPr lang="en-US" sz="1400" dirty="0"/>
          </a:p>
        </p:txBody>
      </p:sp>
      <p:sp>
        <p:nvSpPr>
          <p:cNvPr id="9" name="Text 7"/>
          <p:cNvSpPr txBox="1"/>
          <p:nvPr/>
        </p:nvSpPr>
        <p:spPr>
          <a:xfrm>
            <a:off x="1188720" y="2542032"/>
            <a:ext cx="7132320" cy="365760"/>
          </a:xfrm>
          <a:prstGeom prst="rect">
            <a:avLst/>
          </a:prstGeom>
          <a:noFill/>
          <a:ln/>
        </p:spPr>
        <p:txBody>
          <a:bodyPr wrap="square" lIns="0" tIns="0" rIns="0" bIns="0" rtlCol="0" anchor="ctr"/>
          <a:lstStyle/>
          <a:p>
            <a:pPr indent="0" marL="0">
              <a:buNone/>
            </a:pPr>
            <a:r>
              <a:rPr lang="en-US" sz="1800" dirty="0">
                <a:solidFill>
                  <a:srgbClr val="E2E8F0"/>
                </a:solidFill>
              </a:rPr>
              <a:t>Flood 300 req/s depuis le PC Attaquant</a:t>
            </a:r>
            <a:endParaRPr lang="en-US" sz="1800" dirty="0"/>
          </a:p>
        </p:txBody>
      </p:sp>
      <p:sp>
        <p:nvSpPr>
          <p:cNvPr id="10" name="Shape 8"/>
          <p:cNvSpPr/>
          <p:nvPr/>
        </p:nvSpPr>
        <p:spPr>
          <a:xfrm>
            <a:off x="640080" y="3072384"/>
            <a:ext cx="365760" cy="365760"/>
          </a:xfrm>
          <a:prstGeom prst="ellipse">
            <a:avLst/>
          </a:prstGeom>
          <a:solidFill>
            <a:srgbClr val="14B8A6"/>
          </a:solidFill>
          <a:ln w="12700">
            <a:solidFill>
              <a:srgbClr val="14B8A6"/>
            </a:solidFill>
            <a:prstDash val="solid"/>
          </a:ln>
        </p:spPr>
      </p:sp>
      <p:sp>
        <p:nvSpPr>
          <p:cNvPr id="11" name="Text 9"/>
          <p:cNvSpPr txBox="1"/>
          <p:nvPr/>
        </p:nvSpPr>
        <p:spPr>
          <a:xfrm>
            <a:off x="640080" y="3072384"/>
            <a:ext cx="365760" cy="365760"/>
          </a:xfrm>
          <a:prstGeom prst="rect">
            <a:avLst/>
          </a:prstGeom>
          <a:noFill/>
          <a:ln/>
        </p:spPr>
        <p:txBody>
          <a:bodyPr wrap="square" lIns="0" tIns="0" rIns="0" bIns="0" rtlCol="0" anchor="ctr"/>
          <a:lstStyle/>
          <a:p>
            <a:pPr algn="ctr" indent="0" marL="0">
              <a:buNone/>
            </a:pPr>
            <a:r>
              <a:rPr lang="en-US" sz="1400" b="1" dirty="0">
                <a:solidFill>
                  <a:srgbClr val="0F172A"/>
                </a:solidFill>
              </a:rPr>
              <a:t>3</a:t>
            </a:r>
            <a:endParaRPr lang="en-US" sz="1400" dirty="0"/>
          </a:p>
        </p:txBody>
      </p:sp>
      <p:sp>
        <p:nvSpPr>
          <p:cNvPr id="12" name="Text 10"/>
          <p:cNvSpPr txBox="1"/>
          <p:nvPr/>
        </p:nvSpPr>
        <p:spPr>
          <a:xfrm>
            <a:off x="1188720" y="3072384"/>
            <a:ext cx="7132320" cy="365760"/>
          </a:xfrm>
          <a:prstGeom prst="rect">
            <a:avLst/>
          </a:prstGeom>
          <a:noFill/>
          <a:ln/>
        </p:spPr>
        <p:txBody>
          <a:bodyPr wrap="square" lIns="0" tIns="0" rIns="0" bIns="0" rtlCol="0" anchor="ctr"/>
          <a:lstStyle/>
          <a:p>
            <a:pPr indent="0" marL="0">
              <a:buNone/>
            </a:pPr>
            <a:r>
              <a:rPr lang="en-US" sz="1800" dirty="0">
                <a:solidFill>
                  <a:srgbClr val="E2E8F0"/>
                </a:solidFill>
              </a:rPr>
              <a:t>Détection, bannissement, retour à la normale</a:t>
            </a:r>
            <a:endParaRPr lang="en-US" sz="1800" dirty="0"/>
          </a:p>
        </p:txBody>
      </p:sp>
      <p:sp>
        <p:nvSpPr>
          <p:cNvPr id="13" name="Shape 11"/>
          <p:cNvSpPr/>
          <p:nvPr/>
        </p:nvSpPr>
        <p:spPr>
          <a:xfrm>
            <a:off x="640080" y="3602736"/>
            <a:ext cx="365760" cy="365760"/>
          </a:xfrm>
          <a:prstGeom prst="ellipse">
            <a:avLst/>
          </a:prstGeom>
          <a:solidFill>
            <a:srgbClr val="14B8A6"/>
          </a:solidFill>
          <a:ln w="12700">
            <a:solidFill>
              <a:srgbClr val="14B8A6"/>
            </a:solidFill>
            <a:prstDash val="solid"/>
          </a:ln>
        </p:spPr>
      </p:sp>
      <p:sp>
        <p:nvSpPr>
          <p:cNvPr id="14" name="Text 12"/>
          <p:cNvSpPr txBox="1"/>
          <p:nvPr/>
        </p:nvSpPr>
        <p:spPr>
          <a:xfrm>
            <a:off x="640080" y="3602736"/>
            <a:ext cx="365760" cy="365760"/>
          </a:xfrm>
          <a:prstGeom prst="rect">
            <a:avLst/>
          </a:prstGeom>
          <a:noFill/>
          <a:ln/>
        </p:spPr>
        <p:txBody>
          <a:bodyPr wrap="square" lIns="0" tIns="0" rIns="0" bIns="0" rtlCol="0" anchor="ctr"/>
          <a:lstStyle/>
          <a:p>
            <a:pPr algn="ctr" indent="0" marL="0">
              <a:buNone/>
            </a:pPr>
            <a:r>
              <a:rPr lang="en-US" sz="1400" b="1" dirty="0">
                <a:solidFill>
                  <a:srgbClr val="0F172A"/>
                </a:solidFill>
              </a:rPr>
              <a:t>4</a:t>
            </a:r>
            <a:endParaRPr lang="en-US" sz="1400" dirty="0"/>
          </a:p>
        </p:txBody>
      </p:sp>
      <p:sp>
        <p:nvSpPr>
          <p:cNvPr id="15" name="Text 13"/>
          <p:cNvSpPr txBox="1"/>
          <p:nvPr/>
        </p:nvSpPr>
        <p:spPr>
          <a:xfrm>
            <a:off x="1188720" y="3602736"/>
            <a:ext cx="7132320" cy="365760"/>
          </a:xfrm>
          <a:prstGeom prst="rect">
            <a:avLst/>
          </a:prstGeom>
          <a:noFill/>
          <a:ln/>
        </p:spPr>
        <p:txBody>
          <a:bodyPr wrap="square" lIns="0" tIns="0" rIns="0" bIns="0" rtlCol="0" anchor="ctr"/>
          <a:lstStyle/>
          <a:p>
            <a:pPr indent="0" marL="0">
              <a:buNone/>
            </a:pPr>
            <a:r>
              <a:rPr lang="en-US" sz="1800" dirty="0">
                <a:solidFill>
                  <a:srgbClr val="E2E8F0"/>
                </a:solidFill>
              </a:rPr>
              <a:t>Transaction de contrôle pendant l'attaque</a:t>
            </a:r>
            <a:endParaRPr lang="en-US" sz="1800" dirty="0"/>
          </a:p>
        </p:txBody>
      </p:sp>
      <p:sp>
        <p:nvSpPr>
          <p:cNvPr id="16" name="Shape 14"/>
          <p:cNvSpPr/>
          <p:nvPr/>
        </p:nvSpPr>
        <p:spPr>
          <a:xfrm>
            <a:off x="640080" y="4133088"/>
            <a:ext cx="365760" cy="365760"/>
          </a:xfrm>
          <a:prstGeom prst="ellipse">
            <a:avLst/>
          </a:prstGeom>
          <a:solidFill>
            <a:srgbClr val="14B8A6"/>
          </a:solidFill>
          <a:ln w="12700">
            <a:solidFill>
              <a:srgbClr val="14B8A6"/>
            </a:solidFill>
            <a:prstDash val="solid"/>
          </a:ln>
        </p:spPr>
      </p:sp>
      <p:sp>
        <p:nvSpPr>
          <p:cNvPr id="17" name="Text 15"/>
          <p:cNvSpPr txBox="1"/>
          <p:nvPr/>
        </p:nvSpPr>
        <p:spPr>
          <a:xfrm>
            <a:off x="640080" y="4133088"/>
            <a:ext cx="365760" cy="365760"/>
          </a:xfrm>
          <a:prstGeom prst="rect">
            <a:avLst/>
          </a:prstGeom>
          <a:noFill/>
          <a:ln/>
        </p:spPr>
        <p:txBody>
          <a:bodyPr wrap="square" lIns="0" tIns="0" rIns="0" bIns="0" rtlCol="0" anchor="ctr"/>
          <a:lstStyle/>
          <a:p>
            <a:pPr algn="ctr" indent="0" marL="0">
              <a:buNone/>
            </a:pPr>
            <a:r>
              <a:rPr lang="en-US" sz="1400" b="1" dirty="0">
                <a:solidFill>
                  <a:srgbClr val="0F172A"/>
                </a:solidFill>
              </a:rPr>
              <a:t>5</a:t>
            </a:r>
            <a:endParaRPr lang="en-US" sz="1400" dirty="0"/>
          </a:p>
        </p:txBody>
      </p:sp>
      <p:sp>
        <p:nvSpPr>
          <p:cNvPr id="18" name="Text 16"/>
          <p:cNvSpPr txBox="1"/>
          <p:nvPr/>
        </p:nvSpPr>
        <p:spPr>
          <a:xfrm>
            <a:off x="1188720" y="4133088"/>
            <a:ext cx="7132320" cy="365760"/>
          </a:xfrm>
          <a:prstGeom prst="rect">
            <a:avLst/>
          </a:prstGeom>
          <a:noFill/>
          <a:ln/>
        </p:spPr>
        <p:txBody>
          <a:bodyPr wrap="square" lIns="0" tIns="0" rIns="0" bIns="0" rtlCol="0" anchor="ctr"/>
          <a:lstStyle/>
          <a:p>
            <a:pPr indent="0" marL="0">
              <a:buNone/>
            </a:pPr>
            <a:r>
              <a:rPr lang="en-US" sz="1800" dirty="0">
                <a:solidFill>
                  <a:srgbClr val="E2E8F0"/>
                </a:solidFill>
              </a:rPr>
              <a:t>Chronologie, audit et alertes</a:t>
            </a:r>
            <a:endParaRPr lang="en-US" sz="18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r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Back-office biométrique</a:t>
            </a:r>
            <a:endParaRPr lang="en-US" sz="3400" dirty="0"/>
          </a:p>
        </p:txBody>
      </p:sp>
      <p:sp>
        <p:nvSpPr>
          <p:cNvPr id="3" name="Message"/>
          <p:cNvSpPr txBox="1"/>
          <p:nvPr/>
        </p:nvSpPr>
        <p:spPr>
          <a:xfrm>
            <a:off x="457200" y="896112"/>
            <a:ext cx="8229600" cy="45720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Visage, mot de passe, voyant : un second facteur contrôlé côté serveur.</a:t>
            </a:r>
            <a:endParaRPr lang="en-US" sz="1600" dirty="0"/>
          </a:p>
        </p:txBody>
      </p:sp>
      <p:sp>
        <p:nvSpPr>
          <p:cNvPr id="4" name="Shape 2"/>
          <p:cNvSpPr/>
          <p:nvPr/>
        </p:nvSpPr>
        <p:spPr>
          <a:xfrm>
            <a:off x="457200" y="1463040"/>
            <a:ext cx="4023360" cy="1417320"/>
          </a:xfrm>
          <a:prstGeom prst="rect">
            <a:avLst/>
          </a:prstGeom>
          <a:solidFill>
            <a:schemeClr val="bg2"/>
          </a:solidFill>
          <a:ln w="12700">
            <a:solidFill>
              <a:schemeClr val="bg2"/>
            </a:solidFill>
            <a:prstDash val="solid"/>
          </a:ln>
        </p:spPr>
      </p:sp>
      <p:sp>
        <p:nvSpPr>
          <p:cNvPr id="5" name="Shape 3"/>
          <p:cNvSpPr/>
          <p:nvPr/>
        </p:nvSpPr>
        <p:spPr>
          <a:xfrm>
            <a:off x="640080" y="1645920"/>
            <a:ext cx="502920" cy="502920"/>
          </a:xfrm>
          <a:prstGeom prst="ellipse">
            <a:avLst/>
          </a:prstGeom>
          <a:solidFill>
            <a:srgbClr val="14B8A6"/>
          </a:solidFill>
          <a:ln w="12700">
            <a:solidFill>
              <a:srgbClr val="14B8A6"/>
            </a:solidFill>
            <a:prstDash val="solid"/>
          </a:ln>
        </p:spPr>
      </p:sp>
      <p:pic>
        <p:nvPicPr>
          <p:cNvPr id="6" name="Image 0" descr="preencoded.png">    </p:cNvPr>
          <p:cNvPicPr>
            <a:picLocks noChangeAspect="1"/>
          </p:cNvPicPr>
          <p:nvPr/>
        </p:nvPicPr>
        <p:blipFill>
          <a:blip r:embed="rId2"/>
          <a:stretch>
            <a:fillRect/>
          </a:stretch>
        </p:blipFill>
        <p:spPr>
          <a:xfrm>
            <a:off x="749808" y="1755648"/>
            <a:ext cx="283464" cy="283464"/>
          </a:xfrm>
          <a:prstGeom prst="rect">
            <a:avLst/>
          </a:prstGeom>
        </p:spPr>
      </p:pic>
      <p:sp>
        <p:nvSpPr>
          <p:cNvPr id="7" name="Text 4"/>
          <p:cNvSpPr txBox="1"/>
          <p:nvPr/>
        </p:nvSpPr>
        <p:spPr>
          <a:xfrm>
            <a:off x="1280160" y="1645920"/>
            <a:ext cx="3063240" cy="502920"/>
          </a:xfrm>
          <a:prstGeom prst="rect">
            <a:avLst/>
          </a:prstGeom>
          <a:noFill/>
          <a:ln/>
        </p:spPr>
        <p:txBody>
          <a:bodyPr wrap="square" lIns="0" tIns="0" rIns="0" bIns="0" rtlCol="0" anchor="ctr"/>
          <a:lstStyle/>
          <a:p>
            <a:pPr indent="0" marL="0">
              <a:buNone/>
            </a:pPr>
            <a:r>
              <a:rPr lang="en-US" sz="1600" b="1" dirty="0">
                <a:solidFill>
                  <a:schemeClr val="tx1"/>
                </a:solidFill>
              </a:rPr>
              <a:t>Trois étapes</a:t>
            </a:r>
            <a:endParaRPr lang="en-US" sz="1600" dirty="0"/>
          </a:p>
        </p:txBody>
      </p:sp>
      <p:sp>
        <p:nvSpPr>
          <p:cNvPr id="8" name="Text 5"/>
          <p:cNvSpPr txBox="1"/>
          <p:nvPr/>
        </p:nvSpPr>
        <p:spPr>
          <a:xfrm>
            <a:off x="640080" y="2240280"/>
            <a:ext cx="3657600" cy="594360"/>
          </a:xfrm>
          <a:prstGeom prst="rect">
            <a:avLst/>
          </a:prstGeom>
          <a:noFill/>
          <a:ln/>
        </p:spPr>
        <p:txBody>
          <a:bodyPr wrap="square" lIns="0" tIns="0" rIns="0" bIns="0" rtlCol="0" anchor="t"/>
          <a:lstStyle/>
          <a:p>
            <a:pPr indent="0" marL="0">
              <a:buNone/>
            </a:pPr>
            <a:r>
              <a:rPr lang="en-US" sz="1200" dirty="0">
                <a:solidFill>
                  <a:srgbClr val="334155"/>
                </a:solidFill>
              </a:rPr>
              <a:t>Identifiant, visage (caméra du PC Hôte), mot de passe ; ticket facial signé à usage unique.</a:t>
            </a:r>
            <a:endParaRPr lang="en-US" sz="1200" dirty="0"/>
          </a:p>
        </p:txBody>
      </p:sp>
      <p:sp>
        <p:nvSpPr>
          <p:cNvPr id="9" name="Shape 6"/>
          <p:cNvSpPr/>
          <p:nvPr/>
        </p:nvSpPr>
        <p:spPr>
          <a:xfrm>
            <a:off x="4663440" y="1463040"/>
            <a:ext cx="4023360" cy="1417320"/>
          </a:xfrm>
          <a:prstGeom prst="rect">
            <a:avLst/>
          </a:prstGeom>
          <a:solidFill>
            <a:schemeClr val="bg2"/>
          </a:solidFill>
          <a:ln w="12700">
            <a:solidFill>
              <a:schemeClr val="bg2"/>
            </a:solidFill>
            <a:prstDash val="solid"/>
          </a:ln>
        </p:spPr>
      </p:sp>
      <p:sp>
        <p:nvSpPr>
          <p:cNvPr id="10" name="Shape 7"/>
          <p:cNvSpPr/>
          <p:nvPr/>
        </p:nvSpPr>
        <p:spPr>
          <a:xfrm>
            <a:off x="4846320" y="1645920"/>
            <a:ext cx="502920" cy="502920"/>
          </a:xfrm>
          <a:prstGeom prst="ellipse">
            <a:avLst/>
          </a:prstGeom>
          <a:solidFill>
            <a:srgbClr val="14B8A6"/>
          </a:solidFill>
          <a:ln w="12700">
            <a:solidFill>
              <a:srgbClr val="14B8A6"/>
            </a:solidFill>
            <a:prstDash val="solid"/>
          </a:ln>
        </p:spPr>
      </p:sp>
      <p:pic>
        <p:nvPicPr>
          <p:cNvPr id="11" name="Image 1" descr="preencoded.png">    </p:cNvPr>
          <p:cNvPicPr>
            <a:picLocks noChangeAspect="1"/>
          </p:cNvPicPr>
          <p:nvPr/>
        </p:nvPicPr>
        <p:blipFill>
          <a:blip r:embed="rId3"/>
          <a:stretch>
            <a:fillRect/>
          </a:stretch>
        </p:blipFill>
        <p:spPr>
          <a:xfrm>
            <a:off x="4956048" y="1755648"/>
            <a:ext cx="283464" cy="283464"/>
          </a:xfrm>
          <a:prstGeom prst="rect">
            <a:avLst/>
          </a:prstGeom>
        </p:spPr>
      </p:pic>
      <p:sp>
        <p:nvSpPr>
          <p:cNvPr id="12" name="Text 8"/>
          <p:cNvSpPr txBox="1"/>
          <p:nvPr/>
        </p:nvSpPr>
        <p:spPr>
          <a:xfrm>
            <a:off x="5486400" y="1645920"/>
            <a:ext cx="3063240" cy="502920"/>
          </a:xfrm>
          <a:prstGeom prst="rect">
            <a:avLst/>
          </a:prstGeom>
          <a:noFill/>
          <a:ln/>
        </p:spPr>
        <p:txBody>
          <a:bodyPr wrap="square" lIns="0" tIns="0" rIns="0" bIns="0" rtlCol="0" anchor="ctr"/>
          <a:lstStyle/>
          <a:p>
            <a:pPr indent="0" marL="0">
              <a:buNone/>
            </a:pPr>
            <a:r>
              <a:rPr lang="en-US" sz="1600" b="1" dirty="0">
                <a:solidFill>
                  <a:schemeClr val="tx1"/>
                </a:solidFill>
              </a:rPr>
              <a:t>Voyant ESP8266</a:t>
            </a:r>
            <a:endParaRPr lang="en-US" sz="1600" dirty="0"/>
          </a:p>
        </p:txBody>
      </p:sp>
      <p:sp>
        <p:nvSpPr>
          <p:cNvPr id="13" name="Text 9"/>
          <p:cNvSpPr txBox="1"/>
          <p:nvPr/>
        </p:nvSpPr>
        <p:spPr>
          <a:xfrm>
            <a:off x="4846320" y="2240280"/>
            <a:ext cx="3657600" cy="594360"/>
          </a:xfrm>
          <a:prstGeom prst="rect">
            <a:avLst/>
          </a:prstGeom>
          <a:noFill/>
          <a:ln/>
        </p:spPr>
        <p:txBody>
          <a:bodyPr wrap="square" lIns="0" tIns="0" rIns="0" bIns="0" rtlCol="0" anchor="t"/>
          <a:lstStyle/>
          <a:p>
            <a:pPr indent="0" marL="0">
              <a:buNone/>
            </a:pPr>
            <a:r>
              <a:rPr lang="en-US" sz="1200" dirty="0">
                <a:solidFill>
                  <a:srgbClr val="334155"/>
                </a:solidFill>
              </a:rPr>
              <a:t>Éteint par défaut ; vert clignotant puis fixe 30 s ; rouge fixe 30 s ou clignotant 10 fois ; blocage 5 min.</a:t>
            </a:r>
            <a:endParaRPr lang="en-US" sz="1200" dirty="0"/>
          </a:p>
        </p:txBody>
      </p:sp>
      <p:sp>
        <p:nvSpPr>
          <p:cNvPr id="14" name="Shape 10"/>
          <p:cNvSpPr/>
          <p:nvPr/>
        </p:nvSpPr>
        <p:spPr>
          <a:xfrm>
            <a:off x="457200" y="3063240"/>
            <a:ext cx="4023360" cy="1417320"/>
          </a:xfrm>
          <a:prstGeom prst="rect">
            <a:avLst/>
          </a:prstGeom>
          <a:solidFill>
            <a:schemeClr val="bg2"/>
          </a:solidFill>
          <a:ln w="12700">
            <a:solidFill>
              <a:schemeClr val="bg2"/>
            </a:solidFill>
            <a:prstDash val="solid"/>
          </a:ln>
        </p:spPr>
      </p:sp>
      <p:sp>
        <p:nvSpPr>
          <p:cNvPr id="15" name="Shape 11"/>
          <p:cNvSpPr/>
          <p:nvPr/>
        </p:nvSpPr>
        <p:spPr>
          <a:xfrm>
            <a:off x="640080" y="3246120"/>
            <a:ext cx="502920" cy="502920"/>
          </a:xfrm>
          <a:prstGeom prst="ellipse">
            <a:avLst/>
          </a:prstGeom>
          <a:solidFill>
            <a:srgbClr val="14B8A6"/>
          </a:solidFill>
          <a:ln w="12700">
            <a:solidFill>
              <a:srgbClr val="14B8A6"/>
            </a:solidFill>
            <a:prstDash val="solid"/>
          </a:ln>
        </p:spPr>
      </p:sp>
      <p:pic>
        <p:nvPicPr>
          <p:cNvPr id="16" name="Image 2" descr="preencoded.png">    </p:cNvPr>
          <p:cNvPicPr>
            <a:picLocks noChangeAspect="1"/>
          </p:cNvPicPr>
          <p:nvPr/>
        </p:nvPicPr>
        <p:blipFill>
          <a:blip r:embed="rId4"/>
          <a:stretch>
            <a:fillRect/>
          </a:stretch>
        </p:blipFill>
        <p:spPr>
          <a:xfrm>
            <a:off x="749808" y="3355848"/>
            <a:ext cx="283464" cy="283464"/>
          </a:xfrm>
          <a:prstGeom prst="rect">
            <a:avLst/>
          </a:prstGeom>
        </p:spPr>
      </p:pic>
      <p:sp>
        <p:nvSpPr>
          <p:cNvPr id="17" name="Text 12"/>
          <p:cNvSpPr txBox="1"/>
          <p:nvPr/>
        </p:nvSpPr>
        <p:spPr>
          <a:xfrm>
            <a:off x="1280160" y="3246120"/>
            <a:ext cx="3063240" cy="502920"/>
          </a:xfrm>
          <a:prstGeom prst="rect">
            <a:avLst/>
          </a:prstGeom>
          <a:noFill/>
          <a:ln/>
        </p:spPr>
        <p:txBody>
          <a:bodyPr wrap="square" lIns="0" tIns="0" rIns="0" bIns="0" rtlCol="0" anchor="ctr"/>
          <a:lstStyle/>
          <a:p>
            <a:pPr indent="0" marL="0">
              <a:buNone/>
            </a:pPr>
            <a:r>
              <a:rPr lang="en-US" sz="1600" b="1" dirty="0">
                <a:solidFill>
                  <a:schemeClr val="tx1"/>
                </a:solidFill>
              </a:rPr>
              <a:t>Habilitations</a:t>
            </a:r>
            <a:endParaRPr lang="en-US" sz="1600" dirty="0"/>
          </a:p>
        </p:txBody>
      </p:sp>
      <p:sp>
        <p:nvSpPr>
          <p:cNvPr id="18" name="Text 13"/>
          <p:cNvSpPr txBox="1"/>
          <p:nvPr/>
        </p:nvSpPr>
        <p:spPr>
          <a:xfrm>
            <a:off x="640080" y="3840480"/>
            <a:ext cx="3657600" cy="594360"/>
          </a:xfrm>
          <a:prstGeom prst="rect">
            <a:avLst/>
          </a:prstGeom>
          <a:noFill/>
          <a:ln/>
        </p:spPr>
        <p:txBody>
          <a:bodyPr wrap="square" lIns="0" tIns="0" rIns="0" bIns="0" rtlCol="0" anchor="t"/>
          <a:lstStyle/>
          <a:p>
            <a:pPr indent="0" marL="0">
              <a:buNone/>
            </a:pPr>
            <a:r>
              <a:rPr lang="en-US" sz="1200" dirty="0">
                <a:solidFill>
                  <a:srgbClr val="334155"/>
                </a:solidFill>
              </a:rPr>
              <a:t>Rôles et permissions portés par le jeton, pas d'escalade, audit de chaque action.</a:t>
            </a:r>
            <a:endParaRPr lang="en-US" sz="1200" dirty="0"/>
          </a:p>
        </p:txBody>
      </p:sp>
      <p:sp>
        <p:nvSpPr>
          <p:cNvPr id="19" name="Shape 14"/>
          <p:cNvSpPr/>
          <p:nvPr/>
        </p:nvSpPr>
        <p:spPr>
          <a:xfrm>
            <a:off x="4663440" y="3063240"/>
            <a:ext cx="4023360" cy="1417320"/>
          </a:xfrm>
          <a:prstGeom prst="rect">
            <a:avLst/>
          </a:prstGeom>
          <a:solidFill>
            <a:schemeClr val="bg2"/>
          </a:solidFill>
          <a:ln w="12700">
            <a:solidFill>
              <a:schemeClr val="bg2"/>
            </a:solidFill>
            <a:prstDash val="solid"/>
          </a:ln>
        </p:spPr>
      </p:sp>
      <p:sp>
        <p:nvSpPr>
          <p:cNvPr id="20" name="Shape 15"/>
          <p:cNvSpPr/>
          <p:nvPr/>
        </p:nvSpPr>
        <p:spPr>
          <a:xfrm>
            <a:off x="4846320" y="3246120"/>
            <a:ext cx="502920" cy="502920"/>
          </a:xfrm>
          <a:prstGeom prst="ellipse">
            <a:avLst/>
          </a:prstGeom>
          <a:solidFill>
            <a:srgbClr val="14B8A6"/>
          </a:solidFill>
          <a:ln w="12700">
            <a:solidFill>
              <a:srgbClr val="14B8A6"/>
            </a:solidFill>
            <a:prstDash val="solid"/>
          </a:ln>
        </p:spPr>
      </p:sp>
      <p:pic>
        <p:nvPicPr>
          <p:cNvPr id="21" name="Image 3" descr="preencoded.png">    </p:cNvPr>
          <p:cNvPicPr>
            <a:picLocks noChangeAspect="1"/>
          </p:cNvPicPr>
          <p:nvPr/>
        </p:nvPicPr>
        <p:blipFill>
          <a:blip r:embed="rId5"/>
          <a:stretch>
            <a:fillRect/>
          </a:stretch>
        </p:blipFill>
        <p:spPr>
          <a:xfrm>
            <a:off x="4956048" y="3355848"/>
            <a:ext cx="283464" cy="283464"/>
          </a:xfrm>
          <a:prstGeom prst="rect">
            <a:avLst/>
          </a:prstGeom>
        </p:spPr>
      </p:pic>
      <p:sp>
        <p:nvSpPr>
          <p:cNvPr id="22" name="Text 16"/>
          <p:cNvSpPr txBox="1"/>
          <p:nvPr/>
        </p:nvSpPr>
        <p:spPr>
          <a:xfrm>
            <a:off x="5486400" y="3246120"/>
            <a:ext cx="3063240" cy="502920"/>
          </a:xfrm>
          <a:prstGeom prst="rect">
            <a:avLst/>
          </a:prstGeom>
          <a:noFill/>
          <a:ln/>
        </p:spPr>
        <p:txBody>
          <a:bodyPr wrap="square" lIns="0" tIns="0" rIns="0" bIns="0" rtlCol="0" anchor="ctr"/>
          <a:lstStyle/>
          <a:p>
            <a:pPr indent="0" marL="0">
              <a:buNone/>
            </a:pPr>
            <a:r>
              <a:rPr lang="en-US" sz="1600" b="1" dirty="0">
                <a:solidFill>
                  <a:schemeClr val="tx1"/>
                </a:solidFill>
              </a:rPr>
              <a:t>Prouvé / non prouvé</a:t>
            </a:r>
            <a:endParaRPr lang="en-US" sz="1600" dirty="0"/>
          </a:p>
        </p:txBody>
      </p:sp>
      <p:sp>
        <p:nvSpPr>
          <p:cNvPr id="23" name="Text 17"/>
          <p:cNvSpPr txBox="1"/>
          <p:nvPr/>
        </p:nvSpPr>
        <p:spPr>
          <a:xfrm>
            <a:off x="4846320" y="3840480"/>
            <a:ext cx="3657600" cy="594360"/>
          </a:xfrm>
          <a:prstGeom prst="rect">
            <a:avLst/>
          </a:prstGeom>
          <a:noFill/>
          <a:ln/>
        </p:spPr>
        <p:txBody>
          <a:bodyPr wrap="square" lIns="0" tIns="0" rIns="0" bIns="0" rtlCol="0" anchor="t"/>
          <a:lstStyle/>
          <a:p>
            <a:pPr indent="0" marL="0">
              <a:buNone/>
            </a:pPr>
            <a:r>
              <a:rPr lang="en-US" sz="1200" dirty="0">
                <a:solidFill>
                  <a:srgbClr val="334155"/>
                </a:solidFill>
              </a:rPr>
              <a:t>Essayé avec une vraie caméra USB, bout en bout vérifié, firmware compilé. Non vérifié : ESP physique, taux d'erreur ; pas de vivacité.</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Resilience">
  <a:themeElements>
    <a:clrScheme name="Resilience">
      <a:dk1>
        <a:srgbClr val="0F172A"/>
      </a:dk1>
      <a:lt1>
        <a:srgbClr val="FFFFFF"/>
      </a:lt1>
      <a:dk2>
        <a:srgbClr val="1E293B"/>
      </a:dk2>
      <a:lt2>
        <a:srgbClr val="F1F5F9"/>
      </a:lt2>
      <a:accent1>
        <a:srgbClr val="14B8A6"/>
      </a:accent1>
      <a:accent2>
        <a:srgbClr val="F59E0B"/>
      </a:accent2>
      <a:accent3>
        <a:srgbClr val="EF4444"/>
      </a:accent3>
      <a:accent4>
        <a:srgbClr val="6366F1"/>
      </a:accent4>
      <a:accent5>
        <a:srgbClr val="22C55E"/>
      </a:accent5>
      <a:accent6>
        <a:srgbClr val="64748B"/>
      </a:accent6>
      <a:hlink>
        <a:srgbClr val="14B8A6"/>
      </a:hlink>
      <a:folHlink>
        <a:srgbClr val="64748B"/>
      </a:folHlink>
    </a:clrScheme>
    <a:fontScheme name="Resil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RESILIENCE-ALPHA</dc:title>
  <dc:subject>PptxGenJS Presentation</dc:subject>
  <dc:creator>Équipe G? (à compléter)</dc:creator>
  <cp:lastModifiedBy>Équipe G? (à compléter)</cp:lastModifiedBy>
  <cp:revision>1</cp:revision>
  <dcterms:created xsi:type="dcterms:W3CDTF">2026-10-19T11:20:18Z</dcterms:created>
  <dcterms:modified xsi:type="dcterms:W3CDTF">2026-10-19T11:20:18Z</dcterms:modified>
</cp:coreProperties>
</file>